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Bugün anlatacağım çözümün tek bir tasarım ilkesi var: karar kural motorunda, açıklama yapay zekâda. Sunum boyunca her mimari tercihi bu ilkeye bağlayacağım. Yaklaşık 15 dakikada problemden mimariye, oradan insan onayı ve güvenliğe geçeceğiz.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Bugün süreç şöyle işliyor: bayi CRM'de teklif açıyor, satış operasyon ekibi stok ve fiyatı ERP'den elle doğruluyor, marjı hesaplayıp yöneticiye taşıyıp taşımamaya karar veriyor. Bu hem yavaş hem kişiye bağlı; aynı teklife iki temsilcinin farklı yanıt vermesi mümkün ve altı ay sonra kararın gerekçesi izlenemiyor. Kural motoru kararı tekilleştirir, yapay zekâ gerekçeyi insan diliyle özetler ve onay mesajı taslağı hazırlar. Yöneticiye giden teklif hem azalır hem niteliklenir.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İstek önce Pydantic doğrulamasından geçer, ardından CRM ve ERP çağrılır. Karar motoru saf fonksiyonlardan oluşur ve dış çağrı yapmaz, bu yüzden izole test edilebilir. Yapay zekâ katmanı yalnızca karar verildikten sonra devreye girer; hata veya guardrail ihlalinde deterministik fallback çalışır ve servis HTTP 200 dönmeye devam eder. Her istek için üretilen transaction_id yanıt header'ında ve audit kaydında taşınır. Vurgu: karar motorundan yapay zekâya giden ok tek yönlü.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Entegrasyonda üç nokta: Uygulama iki sistemi okur, hiçbirine yazmaz. İstemciler Protocol arkasında, bu sayede gerçek servise geçiş uygulamanın geri kalanını etkilemiyor. CRM kaydı doğruluk kaynağı; istekle uyuşmazlık teknik hata değil, insan onayına yönlenen bir iş verisi sorunu. Teknoloji tercihlerinde ölçüt tek: bu olmasa ne kaybederim? LangGraph sorusu gelirse: akış doğrusal, onay döngüsü akışa alınırsa gerekçesi doğar.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Karar motoru saf fonksiyonlardan oluşuyor: her kural bir gerekçe kodu listesi döndürüyor, ana fonksiyon bunları topluyor ve önceliğe göre kararı belirliyor. Kurallar birbirini dışlamıyor; tüm kodlar döndürülür, çünkü yönetici tek riski değil hepsini birden görmelidir. Kısmi stokta REJECT değil NEED_APPROVAL: kısmi teslimat veya tedarik süresi ticari bir karar ve insanın vermesi gerekiyor. Eşikler ortam değişkeninde; gerçek projede satış ve finans birimleriyle belirlenir.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güvenli veri, hiç dolaşmayan veridir. Bağlam kuran fonksiyonun imzasında müşteri alanı yok; geliştirici hata yapsa bile isim veya e-posta prompt'a giremez. Beyaz liste yaklaşımı hatayı güvenli tarafa düşürür. İkinci savunma hattı log maskeleme filtresi. Audit'te müşteri HMAC ile takma kimliğe çevrilir; bu takma adlandırmadır, anonimleştirme değil. Guardrail'lerden sayısal doğrulamayı vurgulayın: özetteki yüzdeler ancak karar motorunun ürettiği değerler olabilir.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bir prototip; bilinçli olarak kapsam dışında bıraktığım konular var. En önemlisi kimlik doğrulama ve rol bazlı erişim: bunlar gateway katmanında ele alınmalı, uygulamada tekrarlamak sadeliği bozardı ve yarım bir güvenlik mekanizması yaratırdı. Kamu ihalesi ayrı mevzuat gerektirdiği için kapsam dışı; segment listesi mevcut yapı korunarak genişletilebilir. Onay mesajı üretiliyor ama gönderilmiyor; entegrasyon noktası hazır. Üretimde en kritik üç adım: audit'i değiştirilemez bir depoya taşımak, yetkilendirmeyi eklemek ve izlemeyi kurmak; model davranışı zamanla değişebileceği için fallback oranı ve guardrail ihlalleri mutlaka izlenmeli. Kapanış: bu çözümün değeri karmaşıklığında değil, kararın nerede verildiğinin net olmasında. Kural motoru karar verir, yapay zekâ anlatır, insan riskli durumlarda devreye girer, her adım kayıt altındadır.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2E"/>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320040"/>
          </a:xfrm>
          <a:prstGeom prst="rect">
            <a:avLst/>
          </a:prstGeom>
          <a:noFill/>
          <a:ln/>
        </p:spPr>
        <p:txBody>
          <a:bodyPr wrap="square" lIns="0" tIns="0" rIns="0" bIns="0" rtlCol="0" anchor="ctr"/>
          <a:lstStyle/>
          <a:p>
            <a:pPr indent="0" marL="0">
              <a:buNone/>
            </a:pPr>
            <a:r>
              <a:rPr lang="en-US" sz="1200" b="1" spc="300" kern="0" dirty="0">
                <a:solidFill>
                  <a:srgbClr val="7FB3D5"/>
                </a:solidFill>
                <a:latin typeface="Calibri" pitchFamily="34" charset="0"/>
                <a:ea typeface="Calibri" pitchFamily="34" charset="-122"/>
                <a:cs typeface="Calibri" pitchFamily="34" charset="-120"/>
              </a:rPr>
              <a:t>BÖLÜM 1 — MİMARİ ÇÖZÜM ÇALIŞMASI</a:t>
            </a:r>
            <a:endParaRPr lang="en-US" sz="1200" dirty="0"/>
          </a:p>
        </p:txBody>
      </p:sp>
      <p:sp>
        <p:nvSpPr>
          <p:cNvPr id="3" name="Text 1"/>
          <p:cNvSpPr txBox="1"/>
          <p:nvPr/>
        </p:nvSpPr>
        <p:spPr>
          <a:xfrm>
            <a:off x="822960" y="2011680"/>
            <a:ext cx="10515600" cy="173736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Bayi Teklif Onay Sürecinin</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Yapay Zekâ Destekli Otomasyonu</a:t>
            </a:r>
            <a:endParaRPr lang="en-US" sz="4400" dirty="0"/>
          </a:p>
        </p:txBody>
      </p:sp>
      <p:sp>
        <p:nvSpPr>
          <p:cNvPr id="4" name="Text 2"/>
          <p:cNvSpPr txBox="1"/>
          <p:nvPr/>
        </p:nvSpPr>
        <p:spPr>
          <a:xfrm>
            <a:off x="822960" y="3931920"/>
            <a:ext cx="10058400" cy="914400"/>
          </a:xfrm>
          <a:prstGeom prst="rect">
            <a:avLst/>
          </a:prstGeom>
          <a:noFill/>
          <a:ln/>
        </p:spPr>
        <p:txBody>
          <a:bodyPr wrap="square" lIns="0" tIns="0" rIns="0" bIns="0" rtlCol="0" anchor="t"/>
          <a:lstStyle/>
          <a:p>
            <a:pPr indent="0" marL="0">
              <a:buNone/>
            </a:pPr>
            <a:r>
              <a:rPr lang="en-US" sz="2000" dirty="0">
                <a:solidFill>
                  <a:srgbClr val="C3CED8"/>
                </a:solidFill>
                <a:latin typeface="Calibri" pitchFamily="34" charset="0"/>
                <a:ea typeface="Calibri" pitchFamily="34" charset="-122"/>
                <a:cs typeface="Calibri" pitchFamily="34" charset="-120"/>
              </a:rPr>
              <a:t>Kararı deterministik kural motoru verir.</a:t>
            </a:r>
            <a:endParaRPr lang="en-US" sz="2000" dirty="0"/>
          </a:p>
          <a:p>
            <a:pPr indent="0" marL="0">
              <a:buNone/>
            </a:pPr>
            <a:r>
              <a:rPr lang="en-US" sz="2000" dirty="0">
                <a:solidFill>
                  <a:srgbClr val="C3CED8"/>
                </a:solidFill>
                <a:latin typeface="Calibri" pitchFamily="34" charset="0"/>
                <a:ea typeface="Calibri" pitchFamily="34" charset="-122"/>
                <a:cs typeface="Calibri" pitchFamily="34" charset="-120"/>
              </a:rPr>
              <a:t>Yapay zekâ yalnızca açıklar, özetler ve onay taslağı hazırlar.</a:t>
            </a:r>
            <a:endParaRPr lang="en-US" sz="2000" dirty="0"/>
          </a:p>
        </p:txBody>
      </p:sp>
      <p:sp>
        <p:nvSpPr>
          <p:cNvPr id="5" name="Text 3"/>
          <p:cNvSpPr txBox="1"/>
          <p:nvPr/>
        </p:nvSpPr>
        <p:spPr>
          <a:xfrm>
            <a:off x="822960" y="5943600"/>
            <a:ext cx="10058400" cy="320040"/>
          </a:xfrm>
          <a:prstGeom prst="rect">
            <a:avLst/>
          </a:prstGeom>
          <a:noFill/>
          <a:ln/>
        </p:spPr>
        <p:txBody>
          <a:bodyPr wrap="square" lIns="0" tIns="0" rIns="0" bIns="0" rtlCol="0" anchor="ctr"/>
          <a:lstStyle/>
          <a:p>
            <a:pPr indent="0" marL="0">
              <a:buNone/>
            </a:pPr>
            <a:r>
              <a:rPr lang="en-US" sz="1200" dirty="0">
                <a:solidFill>
                  <a:srgbClr val="8B9AA8"/>
                </a:solidFill>
                <a:latin typeface="Calibri" pitchFamily="34" charset="0"/>
                <a:ea typeface="Calibri" pitchFamily="34" charset="-122"/>
                <a:cs typeface="Calibri" pitchFamily="34" charset="-120"/>
              </a:rPr>
              <a:t>Mert Genç  ·  [Tarih]  ·  Teklif Ön Değerlendirme API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ctr"/>
          <a:lstStyle/>
          <a:p>
            <a:pPr indent="0" marL="0">
              <a:buNone/>
            </a:pPr>
            <a:r>
              <a:rPr lang="en-US" sz="3400" b="1" dirty="0">
                <a:solidFill>
                  <a:srgbClr val="16222E"/>
                </a:solidFill>
                <a:latin typeface="Calibri" pitchFamily="34" charset="0"/>
                <a:ea typeface="Calibri" pitchFamily="34" charset="-122"/>
                <a:cs typeface="Calibri" pitchFamily="34" charset="-120"/>
              </a:rPr>
              <a:t>Süreç bugün nerede tıkanıyor?</a:t>
            </a:r>
            <a:endParaRPr lang="en-US" sz="3400" dirty="0"/>
          </a:p>
        </p:txBody>
      </p:sp>
      <p:sp>
        <p:nvSpPr>
          <p:cNvPr id="3" name="Shape 1"/>
          <p:cNvSpPr/>
          <p:nvPr/>
        </p:nvSpPr>
        <p:spPr>
          <a:xfrm>
            <a:off x="548640" y="1508760"/>
            <a:ext cx="3515258" cy="2514600"/>
          </a:xfrm>
          <a:prstGeom prst="roundRect">
            <a:avLst>
              <a:gd name="adj" fmla="val 2909"/>
            </a:avLst>
          </a:prstGeom>
          <a:solidFill>
            <a:srgbClr val="F4F6F8"/>
          </a:solidFill>
          <a:ln w="9525">
            <a:solidFill>
              <a:srgbClr val="DCE3E9"/>
            </a:solidFill>
            <a:prstDash val="solid"/>
          </a:ln>
        </p:spPr>
      </p:sp>
      <p:sp>
        <p:nvSpPr>
          <p:cNvPr id="4" name="Shape 2"/>
          <p:cNvSpPr/>
          <p:nvPr/>
        </p:nvSpPr>
        <p:spPr>
          <a:xfrm>
            <a:off x="822960" y="1783080"/>
            <a:ext cx="502920" cy="502920"/>
          </a:xfrm>
          <a:prstGeom prst="ellipse">
            <a:avLst/>
          </a:prstGeom>
          <a:solidFill>
            <a:srgbClr val="15618F"/>
          </a:solidFill>
          <a:ln w="12700">
            <a:solidFill>
              <a:srgbClr val="15618F"/>
            </a:solidFill>
            <a:prstDash val="solid"/>
          </a:ln>
        </p:spPr>
      </p:sp>
      <p:pic>
        <p:nvPicPr>
          <p:cNvPr id="5" name="Image 0" descr="preencoded.png">    </p:cNvPr>
          <p:cNvPicPr>
            <a:picLocks noChangeAspect="1"/>
          </p:cNvPicPr>
          <p:nvPr/>
        </p:nvPicPr>
        <p:blipFill>
          <a:blip r:embed="rId1"/>
          <a:stretch>
            <a:fillRect/>
          </a:stretch>
        </p:blipFill>
        <p:spPr>
          <a:xfrm>
            <a:off x="948690" y="1908810"/>
            <a:ext cx="251460" cy="251460"/>
          </a:xfrm>
          <a:prstGeom prst="rect">
            <a:avLst/>
          </a:prstGeom>
        </p:spPr>
      </p:pic>
      <p:sp>
        <p:nvSpPr>
          <p:cNvPr id="6" name="Text 3"/>
          <p:cNvSpPr txBox="1"/>
          <p:nvPr/>
        </p:nvSpPr>
        <p:spPr>
          <a:xfrm>
            <a:off x="822960" y="2468880"/>
            <a:ext cx="2966618" cy="256032"/>
          </a:xfrm>
          <a:prstGeom prst="rect">
            <a:avLst/>
          </a:prstGeom>
          <a:noFill/>
          <a:ln/>
        </p:spPr>
        <p:txBody>
          <a:bodyPr wrap="square" lIns="0" tIns="0" rIns="0" bIns="0" rtlCol="0" anchor="ctr"/>
          <a:lstStyle/>
          <a:p>
            <a:pPr indent="0" marL="0">
              <a:buNone/>
            </a:pPr>
            <a:r>
              <a:rPr lang="en-US" sz="1000" b="1" spc="150" kern="0" dirty="0">
                <a:solidFill>
                  <a:srgbClr val="15618F"/>
                </a:solidFill>
                <a:latin typeface="Calibri" pitchFamily="34" charset="0"/>
                <a:ea typeface="Calibri" pitchFamily="34" charset="-122"/>
                <a:cs typeface="Calibri" pitchFamily="34" charset="-120"/>
              </a:rPr>
              <a:t>BAYİ / İŞ ORTAĞI</a:t>
            </a:r>
            <a:endParaRPr lang="en-US" sz="1000" dirty="0"/>
          </a:p>
        </p:txBody>
      </p:sp>
      <p:sp>
        <p:nvSpPr>
          <p:cNvPr id="7" name="Text 4"/>
          <p:cNvSpPr txBox="1"/>
          <p:nvPr/>
        </p:nvSpPr>
        <p:spPr>
          <a:xfrm>
            <a:off x="822960" y="2743200"/>
            <a:ext cx="2966618" cy="365760"/>
          </a:xfrm>
          <a:prstGeom prst="rect">
            <a:avLst/>
          </a:prstGeom>
          <a:noFill/>
          <a:ln/>
        </p:spPr>
        <p:txBody>
          <a:bodyPr wrap="square" lIns="0" tIns="0" rIns="0" bIns="0" rtlCol="0" anchor="ctr"/>
          <a:lstStyle/>
          <a:p>
            <a:pPr indent="0" marL="0">
              <a:buNone/>
            </a:pPr>
            <a:r>
              <a:rPr lang="en-US" sz="1700" b="1" dirty="0">
                <a:solidFill>
                  <a:srgbClr val="16222E"/>
                </a:solidFill>
                <a:latin typeface="Calibri" pitchFamily="34" charset="0"/>
                <a:ea typeface="Calibri" pitchFamily="34" charset="-122"/>
                <a:cs typeface="Calibri" pitchFamily="34" charset="-120"/>
              </a:rPr>
              <a:t>Teklif talebini oluşturur</a:t>
            </a:r>
            <a:endParaRPr lang="en-US" sz="1700" dirty="0"/>
          </a:p>
        </p:txBody>
      </p:sp>
      <p:sp>
        <p:nvSpPr>
          <p:cNvPr id="8" name="Text 5"/>
          <p:cNvSpPr txBox="1"/>
          <p:nvPr/>
        </p:nvSpPr>
        <p:spPr>
          <a:xfrm>
            <a:off x="822960" y="3154680"/>
            <a:ext cx="2966618" cy="73152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Kayıt CRM'de açılır; hızlı ve öngörülebilir bir yanıt bekler.</a:t>
            </a:r>
            <a:endParaRPr lang="en-US" sz="1300" dirty="0"/>
          </a:p>
        </p:txBody>
      </p:sp>
      <p:sp>
        <p:nvSpPr>
          <p:cNvPr id="9" name="Shape 6"/>
          <p:cNvSpPr/>
          <p:nvPr/>
        </p:nvSpPr>
        <p:spPr>
          <a:xfrm>
            <a:off x="4338218" y="1508760"/>
            <a:ext cx="3515258" cy="2514600"/>
          </a:xfrm>
          <a:prstGeom prst="roundRect">
            <a:avLst>
              <a:gd name="adj" fmla="val 2909"/>
            </a:avLst>
          </a:prstGeom>
          <a:solidFill>
            <a:srgbClr val="F4F6F8"/>
          </a:solidFill>
          <a:ln w="9525">
            <a:solidFill>
              <a:srgbClr val="DCE3E9"/>
            </a:solidFill>
            <a:prstDash val="solid"/>
          </a:ln>
        </p:spPr>
      </p:sp>
      <p:sp>
        <p:nvSpPr>
          <p:cNvPr id="10" name="Shape 7"/>
          <p:cNvSpPr/>
          <p:nvPr/>
        </p:nvSpPr>
        <p:spPr>
          <a:xfrm>
            <a:off x="4612538" y="1783080"/>
            <a:ext cx="502920" cy="502920"/>
          </a:xfrm>
          <a:prstGeom prst="ellipse">
            <a:avLst/>
          </a:prstGeom>
          <a:solidFill>
            <a:srgbClr val="15618F"/>
          </a:solidFill>
          <a:ln w="12700">
            <a:solidFill>
              <a:srgbClr val="15618F"/>
            </a:solidFill>
            <a:prstDash val="solid"/>
          </a:ln>
        </p:spPr>
      </p:sp>
      <p:pic>
        <p:nvPicPr>
          <p:cNvPr id="11" name="Image 1" descr="preencoded.png">    </p:cNvPr>
          <p:cNvPicPr>
            <a:picLocks noChangeAspect="1"/>
          </p:cNvPicPr>
          <p:nvPr/>
        </p:nvPicPr>
        <p:blipFill>
          <a:blip r:embed="rId2"/>
          <a:stretch>
            <a:fillRect/>
          </a:stretch>
        </p:blipFill>
        <p:spPr>
          <a:xfrm>
            <a:off x="4738268" y="1908810"/>
            <a:ext cx="251460" cy="251460"/>
          </a:xfrm>
          <a:prstGeom prst="rect">
            <a:avLst/>
          </a:prstGeom>
        </p:spPr>
      </p:pic>
      <p:sp>
        <p:nvSpPr>
          <p:cNvPr id="12" name="Text 8"/>
          <p:cNvSpPr txBox="1"/>
          <p:nvPr/>
        </p:nvSpPr>
        <p:spPr>
          <a:xfrm>
            <a:off x="4612538" y="2468880"/>
            <a:ext cx="2966618" cy="256032"/>
          </a:xfrm>
          <a:prstGeom prst="rect">
            <a:avLst/>
          </a:prstGeom>
          <a:noFill/>
          <a:ln/>
        </p:spPr>
        <p:txBody>
          <a:bodyPr wrap="square" lIns="0" tIns="0" rIns="0" bIns="0" rtlCol="0" anchor="ctr"/>
          <a:lstStyle/>
          <a:p>
            <a:pPr indent="0" marL="0">
              <a:buNone/>
            </a:pPr>
            <a:r>
              <a:rPr lang="en-US" sz="1000" b="1" spc="150" kern="0" dirty="0">
                <a:solidFill>
                  <a:srgbClr val="15618F"/>
                </a:solidFill>
                <a:latin typeface="Calibri" pitchFamily="34" charset="0"/>
                <a:ea typeface="Calibri" pitchFamily="34" charset="-122"/>
                <a:cs typeface="Calibri" pitchFamily="34" charset="-120"/>
              </a:rPr>
              <a:t>SATIŞ OPERASYON</a:t>
            </a:r>
            <a:endParaRPr lang="en-US" sz="1000" dirty="0"/>
          </a:p>
        </p:txBody>
      </p:sp>
      <p:sp>
        <p:nvSpPr>
          <p:cNvPr id="13" name="Text 9"/>
          <p:cNvSpPr txBox="1"/>
          <p:nvPr/>
        </p:nvSpPr>
        <p:spPr>
          <a:xfrm>
            <a:off x="4612538" y="2743200"/>
            <a:ext cx="2966618" cy="365760"/>
          </a:xfrm>
          <a:prstGeom prst="rect">
            <a:avLst/>
          </a:prstGeom>
          <a:noFill/>
          <a:ln/>
        </p:spPr>
        <p:txBody>
          <a:bodyPr wrap="square" lIns="0" tIns="0" rIns="0" bIns="0" rtlCol="0" anchor="ctr"/>
          <a:lstStyle/>
          <a:p>
            <a:pPr indent="0" marL="0">
              <a:buNone/>
            </a:pPr>
            <a:r>
              <a:rPr lang="en-US" sz="1700" b="1" dirty="0">
                <a:solidFill>
                  <a:srgbClr val="16222E"/>
                </a:solidFill>
                <a:latin typeface="Calibri" pitchFamily="34" charset="0"/>
                <a:ea typeface="Calibri" pitchFamily="34" charset="-122"/>
                <a:cs typeface="Calibri" pitchFamily="34" charset="-120"/>
              </a:rPr>
              <a:t>İlk değerlendirmeyi elle yapar</a:t>
            </a:r>
            <a:endParaRPr lang="en-US" sz="1700" dirty="0"/>
          </a:p>
        </p:txBody>
      </p:sp>
      <p:sp>
        <p:nvSpPr>
          <p:cNvPr id="14" name="Text 10"/>
          <p:cNvSpPr txBox="1"/>
          <p:nvPr/>
        </p:nvSpPr>
        <p:spPr>
          <a:xfrm>
            <a:off x="4612538" y="3154680"/>
            <a:ext cx="2966618" cy="73152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Stok ve fiyatı ERP'den doğrular, marjı hesaplar, yöneticiye taşıyıp taşımayacağına karar verir.</a:t>
            </a:r>
            <a:endParaRPr lang="en-US" sz="1300" dirty="0"/>
          </a:p>
        </p:txBody>
      </p:sp>
      <p:sp>
        <p:nvSpPr>
          <p:cNvPr id="15" name="Shape 11"/>
          <p:cNvSpPr/>
          <p:nvPr/>
        </p:nvSpPr>
        <p:spPr>
          <a:xfrm>
            <a:off x="8127797" y="1508760"/>
            <a:ext cx="3515258" cy="2514600"/>
          </a:xfrm>
          <a:prstGeom prst="roundRect">
            <a:avLst>
              <a:gd name="adj" fmla="val 2909"/>
            </a:avLst>
          </a:prstGeom>
          <a:solidFill>
            <a:srgbClr val="F4F6F8"/>
          </a:solidFill>
          <a:ln w="9525">
            <a:solidFill>
              <a:srgbClr val="DCE3E9"/>
            </a:solidFill>
            <a:prstDash val="solid"/>
          </a:ln>
        </p:spPr>
      </p:sp>
      <p:sp>
        <p:nvSpPr>
          <p:cNvPr id="16" name="Shape 12"/>
          <p:cNvSpPr/>
          <p:nvPr/>
        </p:nvSpPr>
        <p:spPr>
          <a:xfrm>
            <a:off x="8402117" y="1783080"/>
            <a:ext cx="502920" cy="502920"/>
          </a:xfrm>
          <a:prstGeom prst="ellipse">
            <a:avLst/>
          </a:prstGeom>
          <a:solidFill>
            <a:srgbClr val="15618F"/>
          </a:solidFill>
          <a:ln w="12700">
            <a:solidFill>
              <a:srgbClr val="15618F"/>
            </a:solidFill>
            <a:prstDash val="solid"/>
          </a:ln>
        </p:spPr>
      </p:sp>
      <p:pic>
        <p:nvPicPr>
          <p:cNvPr id="17" name="Image 2" descr="preencoded.png">    </p:cNvPr>
          <p:cNvPicPr>
            <a:picLocks noChangeAspect="1"/>
          </p:cNvPicPr>
          <p:nvPr/>
        </p:nvPicPr>
        <p:blipFill>
          <a:blip r:embed="rId3"/>
          <a:stretch>
            <a:fillRect/>
          </a:stretch>
        </p:blipFill>
        <p:spPr>
          <a:xfrm>
            <a:off x="8527847" y="1908810"/>
            <a:ext cx="251460" cy="251460"/>
          </a:xfrm>
          <a:prstGeom prst="rect">
            <a:avLst/>
          </a:prstGeom>
        </p:spPr>
      </p:pic>
      <p:sp>
        <p:nvSpPr>
          <p:cNvPr id="18" name="Text 13"/>
          <p:cNvSpPr txBox="1"/>
          <p:nvPr/>
        </p:nvSpPr>
        <p:spPr>
          <a:xfrm>
            <a:off x="8402117" y="2468880"/>
            <a:ext cx="2966618" cy="256032"/>
          </a:xfrm>
          <a:prstGeom prst="rect">
            <a:avLst/>
          </a:prstGeom>
          <a:noFill/>
          <a:ln/>
        </p:spPr>
        <p:txBody>
          <a:bodyPr wrap="square" lIns="0" tIns="0" rIns="0" bIns="0" rtlCol="0" anchor="ctr"/>
          <a:lstStyle/>
          <a:p>
            <a:pPr indent="0" marL="0">
              <a:buNone/>
            </a:pPr>
            <a:r>
              <a:rPr lang="en-US" sz="1000" b="1" spc="150" kern="0" dirty="0">
                <a:solidFill>
                  <a:srgbClr val="15618F"/>
                </a:solidFill>
                <a:latin typeface="Calibri" pitchFamily="34" charset="0"/>
                <a:ea typeface="Calibri" pitchFamily="34" charset="-122"/>
                <a:cs typeface="Calibri" pitchFamily="34" charset="-120"/>
              </a:rPr>
              <a:t>ÜRÜN / FİNANS YÖNETİCİSİ</a:t>
            </a:r>
            <a:endParaRPr lang="en-US" sz="1000" dirty="0"/>
          </a:p>
        </p:txBody>
      </p:sp>
      <p:sp>
        <p:nvSpPr>
          <p:cNvPr id="19" name="Text 14"/>
          <p:cNvSpPr txBox="1"/>
          <p:nvPr/>
        </p:nvSpPr>
        <p:spPr>
          <a:xfrm>
            <a:off x="8402117" y="2743200"/>
            <a:ext cx="2966618" cy="365760"/>
          </a:xfrm>
          <a:prstGeom prst="rect">
            <a:avLst/>
          </a:prstGeom>
          <a:noFill/>
          <a:ln/>
        </p:spPr>
        <p:txBody>
          <a:bodyPr wrap="square" lIns="0" tIns="0" rIns="0" bIns="0" rtlCol="0" anchor="ctr"/>
          <a:lstStyle/>
          <a:p>
            <a:pPr indent="0" marL="0">
              <a:buNone/>
            </a:pPr>
            <a:r>
              <a:rPr lang="en-US" sz="1700" b="1" dirty="0">
                <a:solidFill>
                  <a:srgbClr val="16222E"/>
                </a:solidFill>
                <a:latin typeface="Calibri" pitchFamily="34" charset="0"/>
                <a:ea typeface="Calibri" pitchFamily="34" charset="-122"/>
                <a:cs typeface="Calibri" pitchFamily="34" charset="-120"/>
              </a:rPr>
              <a:t>Riskli teklifleri onaylar</a:t>
            </a:r>
            <a:endParaRPr lang="en-US" sz="1700" dirty="0"/>
          </a:p>
        </p:txBody>
      </p:sp>
      <p:sp>
        <p:nvSpPr>
          <p:cNvPr id="20" name="Text 15"/>
          <p:cNvSpPr txBox="1"/>
          <p:nvPr/>
        </p:nvSpPr>
        <p:spPr>
          <a:xfrm>
            <a:off x="8402117" y="3154680"/>
            <a:ext cx="2966618" cy="73152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Düşük marj, yüksek tutar veya stok riski taşıyan teklifler önüne gelir.</a:t>
            </a:r>
            <a:endParaRPr lang="en-US" sz="1300" dirty="0"/>
          </a:p>
        </p:txBody>
      </p:sp>
      <p:sp>
        <p:nvSpPr>
          <p:cNvPr id="21" name="Shape 16"/>
          <p:cNvSpPr/>
          <p:nvPr/>
        </p:nvSpPr>
        <p:spPr>
          <a:xfrm>
            <a:off x="548640" y="4343400"/>
            <a:ext cx="11094415" cy="1600200"/>
          </a:xfrm>
          <a:prstGeom prst="roundRect">
            <a:avLst>
              <a:gd name="adj" fmla="val 4571"/>
            </a:avLst>
          </a:prstGeom>
          <a:solidFill>
            <a:srgbClr val="16222E"/>
          </a:solidFill>
          <a:ln w="12700">
            <a:solidFill>
              <a:srgbClr val="16222E"/>
            </a:solidFill>
            <a:prstDash val="solid"/>
          </a:ln>
        </p:spPr>
      </p:sp>
      <p:sp>
        <p:nvSpPr>
          <p:cNvPr id="22" name="Text 17"/>
          <p:cNvSpPr txBox="1"/>
          <p:nvPr/>
        </p:nvSpPr>
        <p:spPr>
          <a:xfrm>
            <a:off x="914400" y="4553712"/>
            <a:ext cx="10362895"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Darboğaz: süzme işi tamamen insanda</a:t>
            </a:r>
            <a:endParaRPr lang="en-US" sz="2000" dirty="0"/>
          </a:p>
        </p:txBody>
      </p:sp>
      <p:sp>
        <p:nvSpPr>
          <p:cNvPr id="23" name="Text 18"/>
          <p:cNvSpPr txBox="1"/>
          <p:nvPr/>
        </p:nvSpPr>
        <p:spPr>
          <a:xfrm>
            <a:off x="914400" y="5029200"/>
            <a:ext cx="10362895"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Yavaş: </a:t>
            </a:r>
            <a:pPr indent="0" marL="0">
              <a:buNone/>
            </a:pPr>
            <a:r>
              <a:rPr lang="en-US" sz="1400" dirty="0">
                <a:solidFill>
                  <a:srgbClr val="C3CED8"/>
                </a:solidFill>
                <a:latin typeface="Calibri" pitchFamily="34" charset="0"/>
                <a:ea typeface="Calibri" pitchFamily="34" charset="-122"/>
                <a:cs typeface="Calibri" pitchFamily="34" charset="-120"/>
              </a:rPr>
              <a:t>her teklif için iki sistem elle kontrol ediliyor.   </a:t>
            </a:r>
            <a:pPr indent="0" marL="0">
              <a:buNone/>
            </a:pPr>
            <a:r>
              <a:rPr lang="en-US" sz="1400" b="1" dirty="0">
                <a:solidFill>
                  <a:srgbClr val="FFFFFF"/>
                </a:solidFill>
                <a:latin typeface="Calibri" pitchFamily="34" charset="0"/>
                <a:ea typeface="Calibri" pitchFamily="34" charset="-122"/>
                <a:cs typeface="Calibri" pitchFamily="34" charset="-120"/>
              </a:rPr>
              <a:t>Tutarsız: </a:t>
            </a:r>
            <a:pPr indent="0" marL="0">
              <a:buNone/>
            </a:pPr>
            <a:r>
              <a:rPr lang="en-US" sz="1400" dirty="0">
                <a:solidFill>
                  <a:srgbClr val="C3CED8"/>
                </a:solidFill>
                <a:latin typeface="Calibri" pitchFamily="34" charset="0"/>
                <a:ea typeface="Calibri" pitchFamily="34" charset="-122"/>
                <a:cs typeface="Calibri" pitchFamily="34" charset="-120"/>
              </a:rPr>
              <a:t>aynı teklife farklı temsilciler farklı yanıt verebiliyor.   </a:t>
            </a:r>
            <a:pPr indent="0" marL="0">
              <a:buNone/>
            </a:pPr>
            <a:r>
              <a:rPr lang="en-US" sz="1400" b="1" dirty="0">
                <a:solidFill>
                  <a:srgbClr val="FFFFFF"/>
                </a:solidFill>
                <a:latin typeface="Calibri" pitchFamily="34" charset="0"/>
                <a:ea typeface="Calibri" pitchFamily="34" charset="-122"/>
                <a:cs typeface="Calibri" pitchFamily="34" charset="-120"/>
              </a:rPr>
              <a:t>İzsiz: </a:t>
            </a:r>
            <a:pPr indent="0" marL="0">
              <a:buNone/>
            </a:pPr>
            <a:r>
              <a:rPr lang="en-US" sz="1400" dirty="0">
                <a:solidFill>
                  <a:srgbClr val="C3CED8"/>
                </a:solidFill>
                <a:latin typeface="Calibri" pitchFamily="34" charset="0"/>
                <a:ea typeface="Calibri" pitchFamily="34" charset="-122"/>
                <a:cs typeface="Calibri" pitchFamily="34" charset="-120"/>
              </a:rPr>
              <a:t>kararın gerekçesi geriye dönük izlenemiyor.</a:t>
            </a:r>
            <a:endParaRPr lang="en-US" sz="1400" dirty="0"/>
          </a:p>
        </p:txBody>
      </p:sp>
      <p:sp>
        <p:nvSpPr>
          <p:cNvPr id="24" name="Text 19"/>
          <p:cNvSpPr txBox="1"/>
          <p:nvPr/>
        </p:nvSpPr>
        <p:spPr>
          <a:xfrm>
            <a:off x="548640" y="6355080"/>
            <a:ext cx="11094415" cy="274320"/>
          </a:xfrm>
          <a:prstGeom prst="rect">
            <a:avLst/>
          </a:prstGeom>
          <a:noFill/>
          <a:ln/>
        </p:spPr>
        <p:txBody>
          <a:bodyPr wrap="square" lIns="0" tIns="0" rIns="0" bIns="0" rtlCol="0" anchor="ctr"/>
          <a:lstStyle/>
          <a:p>
            <a:pPr algn="r" indent="0" marL="0">
              <a:buNone/>
            </a:pPr>
            <a:r>
              <a:rPr lang="en-US" sz="1000" dirty="0">
                <a:solidFill>
                  <a:srgbClr val="8B9AA8"/>
                </a:solidFill>
                <a:latin typeface="Calibri" pitchFamily="34" charset="0"/>
                <a:ea typeface="Calibri" pitchFamily="34" charset="-122"/>
                <a:cs typeface="Calibri" pitchFamily="34" charset="-120"/>
              </a:rPr>
              <a:t>Teklif Ön Değerlendirme API</a:t>
            </a:r>
            <a:pPr algn="r" indent="0" marL="0">
              <a:buNone/>
            </a:pPr>
            <a:r>
              <a:rPr lang="en-US" sz="1000" b="1" dirty="0">
                <a:solidFill>
                  <a:srgbClr val="8B9AA8"/>
                </a:solidFill>
                <a:latin typeface="Calibri" pitchFamily="34" charset="0"/>
                <a:ea typeface="Calibri" pitchFamily="34" charset="-122"/>
                <a:cs typeface="Calibri" pitchFamily="34" charset="-120"/>
              </a:rPr>
              <a:t>   2 / 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ctr"/>
          <a:lstStyle/>
          <a:p>
            <a:pPr indent="0" marL="0">
              <a:buNone/>
            </a:pPr>
            <a:r>
              <a:rPr lang="en-US" sz="3400" b="1" dirty="0">
                <a:solidFill>
                  <a:srgbClr val="16222E"/>
                </a:solidFill>
                <a:latin typeface="Calibri" pitchFamily="34" charset="0"/>
                <a:ea typeface="Calibri" pitchFamily="34" charset="-122"/>
                <a:cs typeface="Calibri" pitchFamily="34" charset="-120"/>
              </a:rPr>
              <a:t>Uçtan uca akış: tek istek, dört durak</a:t>
            </a:r>
            <a:endParaRPr lang="en-US" sz="3400" dirty="0"/>
          </a:p>
        </p:txBody>
      </p:sp>
      <p:sp>
        <p:nvSpPr>
          <p:cNvPr id="3" name="Shape 1"/>
          <p:cNvSpPr/>
          <p:nvPr/>
        </p:nvSpPr>
        <p:spPr>
          <a:xfrm>
            <a:off x="548640" y="1463040"/>
            <a:ext cx="2464994" cy="2788920"/>
          </a:xfrm>
          <a:prstGeom prst="roundRect">
            <a:avLst>
              <a:gd name="adj" fmla="val 2968"/>
            </a:avLst>
          </a:prstGeom>
          <a:solidFill>
            <a:srgbClr val="F4F6F8"/>
          </a:solidFill>
          <a:ln w="9525">
            <a:solidFill>
              <a:srgbClr val="DCE3E9"/>
            </a:solidFill>
            <a:prstDash val="solid"/>
          </a:ln>
        </p:spPr>
      </p:sp>
      <p:sp>
        <p:nvSpPr>
          <p:cNvPr id="4" name="Shape 2"/>
          <p:cNvSpPr/>
          <p:nvPr/>
        </p:nvSpPr>
        <p:spPr>
          <a:xfrm>
            <a:off x="777240" y="1691640"/>
            <a:ext cx="411480" cy="411480"/>
          </a:xfrm>
          <a:prstGeom prst="ellipse">
            <a:avLst/>
          </a:prstGeom>
          <a:solidFill>
            <a:srgbClr val="16222E"/>
          </a:solidFill>
          <a:ln w="12700">
            <a:solidFill>
              <a:srgbClr val="16222E"/>
            </a:solidFill>
            <a:prstDash val="solid"/>
          </a:ln>
        </p:spPr>
      </p:sp>
      <p:sp>
        <p:nvSpPr>
          <p:cNvPr id="5" name="Text 3"/>
          <p:cNvSpPr txBox="1"/>
          <p:nvPr/>
        </p:nvSpPr>
        <p:spPr>
          <a:xfrm>
            <a:off x="777240" y="16916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777240" y="2240280"/>
            <a:ext cx="2007794" cy="256032"/>
          </a:xfrm>
          <a:prstGeom prst="rect">
            <a:avLst/>
          </a:prstGeom>
          <a:noFill/>
          <a:ln/>
        </p:spPr>
        <p:txBody>
          <a:bodyPr wrap="square" lIns="0" tIns="0" rIns="0" bIns="0" rtlCol="0" anchor="ctr"/>
          <a:lstStyle/>
          <a:p>
            <a:pPr indent="0" marL="0">
              <a:buNone/>
            </a:pPr>
            <a:r>
              <a:rPr lang="en-US" sz="1000" b="1" spc="150" kern="0" dirty="0">
                <a:solidFill>
                  <a:srgbClr val="5B6B7A"/>
                </a:solidFill>
                <a:latin typeface="Calibri" pitchFamily="34" charset="0"/>
                <a:ea typeface="Calibri" pitchFamily="34" charset="-122"/>
                <a:cs typeface="Calibri" pitchFamily="34" charset="-120"/>
              </a:rPr>
              <a:t>KAYNAK SİSTEMLER</a:t>
            </a:r>
            <a:endParaRPr lang="en-US" sz="1000" dirty="0"/>
          </a:p>
        </p:txBody>
      </p:sp>
      <p:sp>
        <p:nvSpPr>
          <p:cNvPr id="7" name="Text 5"/>
          <p:cNvSpPr txBox="1"/>
          <p:nvPr/>
        </p:nvSpPr>
        <p:spPr>
          <a:xfrm>
            <a:off x="777240" y="2496312"/>
            <a:ext cx="2007794" cy="365760"/>
          </a:xfrm>
          <a:prstGeom prst="rect">
            <a:avLst/>
          </a:prstGeom>
          <a:noFill/>
          <a:ln/>
        </p:spPr>
        <p:txBody>
          <a:bodyPr wrap="square" lIns="0" tIns="0" rIns="0" bIns="0" rtlCol="0" anchor="ctr"/>
          <a:lstStyle/>
          <a:p>
            <a:pPr indent="0" marL="0">
              <a:buNone/>
            </a:pPr>
            <a:r>
              <a:rPr lang="en-US" sz="1700" b="1" dirty="0">
                <a:solidFill>
                  <a:srgbClr val="16222E"/>
                </a:solidFill>
                <a:latin typeface="Calibri" pitchFamily="34" charset="0"/>
                <a:ea typeface="Calibri" pitchFamily="34" charset="-122"/>
                <a:cs typeface="Calibri" pitchFamily="34" charset="-120"/>
              </a:rPr>
              <a:t>CRM + ERP</a:t>
            </a:r>
            <a:endParaRPr lang="en-US" sz="1700" dirty="0"/>
          </a:p>
        </p:txBody>
      </p:sp>
      <p:sp>
        <p:nvSpPr>
          <p:cNvPr id="8" name="Text 6"/>
          <p:cNvSpPr txBox="1"/>
          <p:nvPr/>
        </p:nvSpPr>
        <p:spPr>
          <a:xfrm>
            <a:off x="777240" y="2926080"/>
            <a:ext cx="2099234" cy="1234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CRM: teklif ve müşteri kaydı</a:t>
            </a:r>
            <a:endParaRPr lang="en-US" sz="1250" dirty="0"/>
          </a:p>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ERP: stok, maliyet, nakliye, marka</a:t>
            </a:r>
            <a:endParaRPr lang="en-US" sz="1250" dirty="0"/>
          </a:p>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Mock JSON, Protocol arayüzü</a:t>
            </a:r>
            <a:endParaRPr lang="en-US" sz="1250" dirty="0"/>
          </a:p>
        </p:txBody>
      </p:sp>
      <p:sp>
        <p:nvSpPr>
          <p:cNvPr id="9" name="Text 7"/>
          <p:cNvSpPr txBox="1"/>
          <p:nvPr/>
        </p:nvSpPr>
        <p:spPr>
          <a:xfrm>
            <a:off x="3013634" y="2560320"/>
            <a:ext cx="411480" cy="548640"/>
          </a:xfrm>
          <a:prstGeom prst="rect">
            <a:avLst/>
          </a:prstGeom>
          <a:noFill/>
          <a:ln/>
        </p:spPr>
        <p:txBody>
          <a:bodyPr wrap="square" lIns="0" tIns="0" rIns="0" bIns="0" rtlCol="0" anchor="ctr"/>
          <a:lstStyle/>
          <a:p>
            <a:pPr algn="ctr" indent="0" marL="0">
              <a:buNone/>
            </a:pPr>
            <a:r>
              <a:rPr lang="en-US" sz="2600" dirty="0">
                <a:solidFill>
                  <a:srgbClr val="8B9AA8"/>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3425114" y="1463040"/>
            <a:ext cx="2464994" cy="2788920"/>
          </a:xfrm>
          <a:prstGeom prst="roundRect">
            <a:avLst>
              <a:gd name="adj" fmla="val 2968"/>
            </a:avLst>
          </a:prstGeom>
          <a:solidFill>
            <a:srgbClr val="F4F6F8"/>
          </a:solidFill>
          <a:ln w="9525">
            <a:solidFill>
              <a:srgbClr val="DCE3E9"/>
            </a:solidFill>
            <a:prstDash val="solid"/>
          </a:ln>
        </p:spPr>
      </p:sp>
      <p:sp>
        <p:nvSpPr>
          <p:cNvPr id="11" name="Shape 9"/>
          <p:cNvSpPr/>
          <p:nvPr/>
        </p:nvSpPr>
        <p:spPr>
          <a:xfrm>
            <a:off x="3653714" y="1691640"/>
            <a:ext cx="411480" cy="411480"/>
          </a:xfrm>
          <a:prstGeom prst="ellipse">
            <a:avLst/>
          </a:prstGeom>
          <a:solidFill>
            <a:srgbClr val="16222E"/>
          </a:solidFill>
          <a:ln w="12700">
            <a:solidFill>
              <a:srgbClr val="16222E"/>
            </a:solidFill>
            <a:prstDash val="solid"/>
          </a:ln>
        </p:spPr>
      </p:sp>
      <p:sp>
        <p:nvSpPr>
          <p:cNvPr id="12" name="Text 10"/>
          <p:cNvSpPr txBox="1"/>
          <p:nvPr/>
        </p:nvSpPr>
        <p:spPr>
          <a:xfrm>
            <a:off x="3653714" y="16916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653714" y="2240280"/>
            <a:ext cx="2007794" cy="256032"/>
          </a:xfrm>
          <a:prstGeom prst="rect">
            <a:avLst/>
          </a:prstGeom>
          <a:noFill/>
          <a:ln/>
        </p:spPr>
        <p:txBody>
          <a:bodyPr wrap="square" lIns="0" tIns="0" rIns="0" bIns="0" rtlCol="0" anchor="ctr"/>
          <a:lstStyle/>
          <a:p>
            <a:pPr indent="0" marL="0">
              <a:buNone/>
            </a:pPr>
            <a:r>
              <a:rPr lang="en-US" sz="1000" b="1" spc="150" kern="0" dirty="0">
                <a:solidFill>
                  <a:srgbClr val="5B6B7A"/>
                </a:solidFill>
                <a:latin typeface="Calibri" pitchFamily="34" charset="0"/>
                <a:ea typeface="Calibri" pitchFamily="34" charset="-122"/>
                <a:cs typeface="Calibri" pitchFamily="34" charset="-120"/>
              </a:rPr>
              <a:t>UYGULAMA</a:t>
            </a:r>
            <a:endParaRPr lang="en-US" sz="1000" dirty="0"/>
          </a:p>
        </p:txBody>
      </p:sp>
      <p:sp>
        <p:nvSpPr>
          <p:cNvPr id="14" name="Text 12"/>
          <p:cNvSpPr txBox="1"/>
          <p:nvPr/>
        </p:nvSpPr>
        <p:spPr>
          <a:xfrm>
            <a:off x="3653714" y="2496312"/>
            <a:ext cx="2007794" cy="365760"/>
          </a:xfrm>
          <a:prstGeom prst="rect">
            <a:avLst/>
          </a:prstGeom>
          <a:noFill/>
          <a:ln/>
        </p:spPr>
        <p:txBody>
          <a:bodyPr wrap="square" lIns="0" tIns="0" rIns="0" bIns="0" rtlCol="0" anchor="ctr"/>
          <a:lstStyle/>
          <a:p>
            <a:pPr indent="0" marL="0">
              <a:buNone/>
            </a:pPr>
            <a:r>
              <a:rPr lang="en-US" sz="1700" b="1" dirty="0">
                <a:solidFill>
                  <a:srgbClr val="16222E"/>
                </a:solidFill>
                <a:latin typeface="Calibri" pitchFamily="34" charset="0"/>
                <a:ea typeface="Calibri" pitchFamily="34" charset="-122"/>
                <a:cs typeface="Calibri" pitchFamily="34" charset="-120"/>
              </a:rPr>
              <a:t>FastAPI</a:t>
            </a:r>
            <a:endParaRPr lang="en-US" sz="1700" dirty="0"/>
          </a:p>
        </p:txBody>
      </p:sp>
      <p:sp>
        <p:nvSpPr>
          <p:cNvPr id="15" name="Text 13"/>
          <p:cNvSpPr txBox="1"/>
          <p:nvPr/>
        </p:nvSpPr>
        <p:spPr>
          <a:xfrm>
            <a:off x="3653714" y="2926080"/>
            <a:ext cx="2099234" cy="1234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POST /evaluate-offer</a:t>
            </a:r>
            <a:endParaRPr lang="en-US" sz="1250" dirty="0"/>
          </a:p>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Pydantic doğrulama, 4xx hatalar</a:t>
            </a:r>
            <a:endParaRPr lang="en-US" sz="1250" dirty="0"/>
          </a:p>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transaction_id üretimi</a:t>
            </a:r>
            <a:endParaRPr lang="en-US" sz="1250" dirty="0"/>
          </a:p>
        </p:txBody>
      </p:sp>
      <p:sp>
        <p:nvSpPr>
          <p:cNvPr id="16" name="Text 14"/>
          <p:cNvSpPr txBox="1"/>
          <p:nvPr/>
        </p:nvSpPr>
        <p:spPr>
          <a:xfrm>
            <a:off x="5890108" y="2560320"/>
            <a:ext cx="411480" cy="548640"/>
          </a:xfrm>
          <a:prstGeom prst="rect">
            <a:avLst/>
          </a:prstGeom>
          <a:noFill/>
          <a:ln/>
        </p:spPr>
        <p:txBody>
          <a:bodyPr wrap="square" lIns="0" tIns="0" rIns="0" bIns="0" rtlCol="0" anchor="ctr"/>
          <a:lstStyle/>
          <a:p>
            <a:pPr algn="ctr" indent="0" marL="0">
              <a:buNone/>
            </a:pPr>
            <a:r>
              <a:rPr lang="en-US" sz="2600" dirty="0">
                <a:solidFill>
                  <a:srgbClr val="8B9AA8"/>
                </a:solidFill>
                <a:latin typeface="Calibri" pitchFamily="34" charset="0"/>
                <a:ea typeface="Calibri" pitchFamily="34" charset="-122"/>
                <a:cs typeface="Calibri" pitchFamily="34" charset="-120"/>
              </a:rPr>
              <a:t>→</a:t>
            </a:r>
            <a:endParaRPr lang="en-US" sz="2600" dirty="0"/>
          </a:p>
        </p:txBody>
      </p:sp>
      <p:sp>
        <p:nvSpPr>
          <p:cNvPr id="17" name="Shape 15"/>
          <p:cNvSpPr/>
          <p:nvPr/>
        </p:nvSpPr>
        <p:spPr>
          <a:xfrm>
            <a:off x="6301588" y="1463040"/>
            <a:ext cx="2464994" cy="2788920"/>
          </a:xfrm>
          <a:prstGeom prst="roundRect">
            <a:avLst>
              <a:gd name="adj" fmla="val 2968"/>
            </a:avLst>
          </a:prstGeom>
          <a:solidFill>
            <a:srgbClr val="EEF3F7"/>
          </a:solidFill>
          <a:ln w="9525">
            <a:solidFill>
              <a:srgbClr val="15618F"/>
            </a:solidFill>
            <a:prstDash val="solid"/>
          </a:ln>
        </p:spPr>
      </p:sp>
      <p:sp>
        <p:nvSpPr>
          <p:cNvPr id="18" name="Shape 16"/>
          <p:cNvSpPr/>
          <p:nvPr/>
        </p:nvSpPr>
        <p:spPr>
          <a:xfrm>
            <a:off x="6301588" y="1463040"/>
            <a:ext cx="2464994" cy="2788920"/>
          </a:xfrm>
          <a:prstGeom prst="roundRect">
            <a:avLst>
              <a:gd name="adj" fmla="val 2968"/>
            </a:avLst>
          </a:prstGeom>
          <a:ln w="25400">
            <a:solidFill>
              <a:srgbClr val="15618F"/>
            </a:solidFill>
            <a:prstDash val="solid"/>
          </a:ln>
        </p:spPr>
      </p:sp>
      <p:sp>
        <p:nvSpPr>
          <p:cNvPr id="19" name="Shape 17"/>
          <p:cNvSpPr/>
          <p:nvPr/>
        </p:nvSpPr>
        <p:spPr>
          <a:xfrm>
            <a:off x="6530188" y="1691640"/>
            <a:ext cx="411480" cy="411480"/>
          </a:xfrm>
          <a:prstGeom prst="ellipse">
            <a:avLst/>
          </a:prstGeom>
          <a:solidFill>
            <a:srgbClr val="15618F"/>
          </a:solidFill>
          <a:ln w="12700">
            <a:solidFill>
              <a:srgbClr val="15618F"/>
            </a:solidFill>
            <a:prstDash val="solid"/>
          </a:ln>
        </p:spPr>
      </p:sp>
      <p:sp>
        <p:nvSpPr>
          <p:cNvPr id="20" name="Text 18"/>
          <p:cNvSpPr txBox="1"/>
          <p:nvPr/>
        </p:nvSpPr>
        <p:spPr>
          <a:xfrm>
            <a:off x="6530188" y="16916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6530188" y="2240280"/>
            <a:ext cx="2007794" cy="256032"/>
          </a:xfrm>
          <a:prstGeom prst="rect">
            <a:avLst/>
          </a:prstGeom>
          <a:noFill/>
          <a:ln/>
        </p:spPr>
        <p:txBody>
          <a:bodyPr wrap="square" lIns="0" tIns="0" rIns="0" bIns="0" rtlCol="0" anchor="ctr"/>
          <a:lstStyle/>
          <a:p>
            <a:pPr indent="0" marL="0">
              <a:buNone/>
            </a:pPr>
            <a:r>
              <a:rPr lang="en-US" sz="1000" b="1" spc="150" kern="0" dirty="0">
                <a:solidFill>
                  <a:srgbClr val="15618F"/>
                </a:solidFill>
                <a:latin typeface="Calibri" pitchFamily="34" charset="0"/>
                <a:ea typeface="Calibri" pitchFamily="34" charset="-122"/>
                <a:cs typeface="Calibri" pitchFamily="34" charset="-120"/>
              </a:rPr>
              <a:t>KARAR MOTORU</a:t>
            </a:r>
            <a:endParaRPr lang="en-US" sz="1000" dirty="0"/>
          </a:p>
        </p:txBody>
      </p:sp>
      <p:sp>
        <p:nvSpPr>
          <p:cNvPr id="22" name="Text 20"/>
          <p:cNvSpPr txBox="1"/>
          <p:nvPr/>
        </p:nvSpPr>
        <p:spPr>
          <a:xfrm>
            <a:off x="6530188" y="2496312"/>
            <a:ext cx="2007794" cy="365760"/>
          </a:xfrm>
          <a:prstGeom prst="rect">
            <a:avLst/>
          </a:prstGeom>
          <a:noFill/>
          <a:ln/>
        </p:spPr>
        <p:txBody>
          <a:bodyPr wrap="square" lIns="0" tIns="0" rIns="0" bIns="0" rtlCol="0" anchor="ctr"/>
          <a:lstStyle/>
          <a:p>
            <a:pPr indent="0" marL="0">
              <a:buNone/>
            </a:pPr>
            <a:r>
              <a:rPr lang="en-US" sz="1700" b="1" dirty="0">
                <a:solidFill>
                  <a:srgbClr val="16222E"/>
                </a:solidFill>
                <a:latin typeface="Calibri" pitchFamily="34" charset="0"/>
                <a:ea typeface="Calibri" pitchFamily="34" charset="-122"/>
                <a:cs typeface="Calibri" pitchFamily="34" charset="-120"/>
              </a:rPr>
              <a:t>Deterministik kurallar</a:t>
            </a:r>
            <a:endParaRPr lang="en-US" sz="1700" dirty="0"/>
          </a:p>
        </p:txBody>
      </p:sp>
      <p:sp>
        <p:nvSpPr>
          <p:cNvPr id="23" name="Text 21"/>
          <p:cNvSpPr txBox="1"/>
          <p:nvPr/>
        </p:nvSpPr>
        <p:spPr>
          <a:xfrm>
            <a:off x="6530188" y="2926080"/>
            <a:ext cx="2099234" cy="1234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6 kural, saf fonksiyonlar</a:t>
            </a:r>
            <a:endParaRPr lang="en-US" sz="1250" dirty="0"/>
          </a:p>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REJECT &gt; NEED_APPROVAL &gt; APPROVE</a:t>
            </a:r>
            <a:endParaRPr lang="en-US" sz="1250" dirty="0"/>
          </a:p>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Kararın tek sahibi bu katman</a:t>
            </a:r>
            <a:endParaRPr lang="en-US" sz="1250" dirty="0"/>
          </a:p>
        </p:txBody>
      </p:sp>
      <p:sp>
        <p:nvSpPr>
          <p:cNvPr id="24" name="Text 22"/>
          <p:cNvSpPr txBox="1"/>
          <p:nvPr/>
        </p:nvSpPr>
        <p:spPr>
          <a:xfrm>
            <a:off x="8766581" y="2560320"/>
            <a:ext cx="411480" cy="548640"/>
          </a:xfrm>
          <a:prstGeom prst="rect">
            <a:avLst/>
          </a:prstGeom>
          <a:noFill/>
          <a:ln/>
        </p:spPr>
        <p:txBody>
          <a:bodyPr wrap="square" lIns="0" tIns="0" rIns="0" bIns="0" rtlCol="0" anchor="ctr"/>
          <a:lstStyle/>
          <a:p>
            <a:pPr algn="ctr" indent="0" marL="0">
              <a:buNone/>
            </a:pPr>
            <a:r>
              <a:rPr lang="en-US" sz="2600" dirty="0">
                <a:solidFill>
                  <a:srgbClr val="8B9AA8"/>
                </a:solidFill>
                <a:latin typeface="Calibri" pitchFamily="34" charset="0"/>
                <a:ea typeface="Calibri" pitchFamily="34" charset="-122"/>
                <a:cs typeface="Calibri" pitchFamily="34" charset="-120"/>
              </a:rPr>
              <a:t>→</a:t>
            </a:r>
            <a:endParaRPr lang="en-US" sz="2600" dirty="0"/>
          </a:p>
        </p:txBody>
      </p:sp>
      <p:sp>
        <p:nvSpPr>
          <p:cNvPr id="25" name="Shape 23"/>
          <p:cNvSpPr/>
          <p:nvPr/>
        </p:nvSpPr>
        <p:spPr>
          <a:xfrm>
            <a:off x="9178061" y="1463040"/>
            <a:ext cx="2464994" cy="2788920"/>
          </a:xfrm>
          <a:prstGeom prst="roundRect">
            <a:avLst>
              <a:gd name="adj" fmla="val 2968"/>
            </a:avLst>
          </a:prstGeom>
          <a:solidFill>
            <a:srgbClr val="F4F6F8"/>
          </a:solidFill>
          <a:ln w="9525">
            <a:solidFill>
              <a:srgbClr val="DCE3E9"/>
            </a:solidFill>
            <a:prstDash val="solid"/>
          </a:ln>
        </p:spPr>
      </p:sp>
      <p:sp>
        <p:nvSpPr>
          <p:cNvPr id="26" name="Shape 24"/>
          <p:cNvSpPr/>
          <p:nvPr/>
        </p:nvSpPr>
        <p:spPr>
          <a:xfrm>
            <a:off x="9406661" y="1691640"/>
            <a:ext cx="411480" cy="411480"/>
          </a:xfrm>
          <a:prstGeom prst="ellipse">
            <a:avLst/>
          </a:prstGeom>
          <a:solidFill>
            <a:srgbClr val="16222E"/>
          </a:solidFill>
          <a:ln w="12700">
            <a:solidFill>
              <a:srgbClr val="16222E"/>
            </a:solidFill>
            <a:prstDash val="solid"/>
          </a:ln>
        </p:spPr>
      </p:sp>
      <p:sp>
        <p:nvSpPr>
          <p:cNvPr id="27" name="Text 25"/>
          <p:cNvSpPr txBox="1"/>
          <p:nvPr/>
        </p:nvSpPr>
        <p:spPr>
          <a:xfrm>
            <a:off x="9406661" y="16916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6"/>
          <p:cNvSpPr txBox="1"/>
          <p:nvPr/>
        </p:nvSpPr>
        <p:spPr>
          <a:xfrm>
            <a:off x="9406661" y="2240280"/>
            <a:ext cx="2007794" cy="256032"/>
          </a:xfrm>
          <a:prstGeom prst="rect">
            <a:avLst/>
          </a:prstGeom>
          <a:noFill/>
          <a:ln/>
        </p:spPr>
        <p:txBody>
          <a:bodyPr wrap="square" lIns="0" tIns="0" rIns="0" bIns="0" rtlCol="0" anchor="ctr"/>
          <a:lstStyle/>
          <a:p>
            <a:pPr indent="0" marL="0">
              <a:buNone/>
            </a:pPr>
            <a:r>
              <a:rPr lang="en-US" sz="1000" b="1" spc="150" kern="0" dirty="0">
                <a:solidFill>
                  <a:srgbClr val="5B6B7A"/>
                </a:solidFill>
                <a:latin typeface="Calibri" pitchFamily="34" charset="0"/>
                <a:ea typeface="Calibri" pitchFamily="34" charset="-122"/>
                <a:cs typeface="Calibri" pitchFamily="34" charset="-120"/>
              </a:rPr>
              <a:t>YAPAY ZEKÂ</a:t>
            </a:r>
            <a:endParaRPr lang="en-US" sz="1000" dirty="0"/>
          </a:p>
        </p:txBody>
      </p:sp>
      <p:sp>
        <p:nvSpPr>
          <p:cNvPr id="29" name="Text 27"/>
          <p:cNvSpPr txBox="1"/>
          <p:nvPr/>
        </p:nvSpPr>
        <p:spPr>
          <a:xfrm>
            <a:off x="9406661" y="2496312"/>
            <a:ext cx="2007794" cy="365760"/>
          </a:xfrm>
          <a:prstGeom prst="rect">
            <a:avLst/>
          </a:prstGeom>
          <a:noFill/>
          <a:ln/>
        </p:spPr>
        <p:txBody>
          <a:bodyPr wrap="square" lIns="0" tIns="0" rIns="0" bIns="0" rtlCol="0" anchor="ctr"/>
          <a:lstStyle/>
          <a:p>
            <a:pPr indent="0" marL="0">
              <a:buNone/>
            </a:pPr>
            <a:r>
              <a:rPr lang="en-US" sz="1700" b="1" dirty="0">
                <a:solidFill>
                  <a:srgbClr val="16222E"/>
                </a:solidFill>
                <a:latin typeface="Calibri" pitchFamily="34" charset="0"/>
                <a:ea typeface="Calibri" pitchFamily="34" charset="-122"/>
                <a:cs typeface="Calibri" pitchFamily="34" charset="-120"/>
              </a:rPr>
              <a:t>Açıklama katmanı</a:t>
            </a:r>
            <a:endParaRPr lang="en-US" sz="1700" dirty="0"/>
          </a:p>
        </p:txBody>
      </p:sp>
      <p:sp>
        <p:nvSpPr>
          <p:cNvPr id="30" name="Text 28"/>
          <p:cNvSpPr txBox="1"/>
          <p:nvPr/>
        </p:nvSpPr>
        <p:spPr>
          <a:xfrm>
            <a:off x="9406661" y="2926080"/>
            <a:ext cx="2099234" cy="1234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LangChain, tool calling</a:t>
            </a:r>
            <a:endParaRPr lang="en-US" sz="1250" dirty="0"/>
          </a:p>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Özet + onay taslağı</a:t>
            </a:r>
            <a:endParaRPr lang="en-US" sz="1250" dirty="0"/>
          </a:p>
          <a:p>
            <a:pPr marL="342900" indent="-342900">
              <a:spcAft>
                <a:spcPts val="400"/>
              </a:spcAft>
              <a:buSzPct val="100000"/>
              <a:buChar char="•"/>
            </a:pPr>
            <a:r>
              <a:rPr lang="en-US" sz="1250" dirty="0">
                <a:solidFill>
                  <a:srgbClr val="3F5162"/>
                </a:solidFill>
                <a:latin typeface="Calibri" pitchFamily="34" charset="0"/>
                <a:ea typeface="Calibri" pitchFamily="34" charset="-122"/>
                <a:cs typeface="Calibri" pitchFamily="34" charset="-120"/>
              </a:rPr>
              <a:t>Guardrail; hata olursa fallback</a:t>
            </a:r>
            <a:endParaRPr lang="en-US" sz="1250" dirty="0"/>
          </a:p>
        </p:txBody>
      </p:sp>
      <p:sp>
        <p:nvSpPr>
          <p:cNvPr id="31" name="Shape 29"/>
          <p:cNvSpPr/>
          <p:nvPr/>
        </p:nvSpPr>
        <p:spPr>
          <a:xfrm>
            <a:off x="548640" y="4526280"/>
            <a:ext cx="5410048" cy="1463040"/>
          </a:xfrm>
          <a:prstGeom prst="roundRect">
            <a:avLst>
              <a:gd name="adj" fmla="val 5000"/>
            </a:avLst>
          </a:prstGeom>
          <a:solidFill>
            <a:srgbClr val="16222E"/>
          </a:solidFill>
          <a:ln w="12700">
            <a:solidFill>
              <a:srgbClr val="16222E"/>
            </a:solidFill>
            <a:prstDash val="solid"/>
          </a:ln>
        </p:spPr>
      </p:sp>
      <p:sp>
        <p:nvSpPr>
          <p:cNvPr id="32" name="Text 30"/>
          <p:cNvSpPr txBox="1"/>
          <p:nvPr/>
        </p:nvSpPr>
        <p:spPr>
          <a:xfrm>
            <a:off x="868680" y="4709160"/>
            <a:ext cx="4769968"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Karar motorundan yapay zekâya ok tek yönlüdür</a:t>
            </a:r>
            <a:endParaRPr lang="en-US" sz="1600" dirty="0"/>
          </a:p>
        </p:txBody>
      </p:sp>
      <p:sp>
        <p:nvSpPr>
          <p:cNvPr id="33" name="Text 31"/>
          <p:cNvSpPr txBox="1"/>
          <p:nvPr/>
        </p:nvSpPr>
        <p:spPr>
          <a:xfrm>
            <a:off x="868680" y="5120640"/>
            <a:ext cx="4769968" cy="685800"/>
          </a:xfrm>
          <a:prstGeom prst="rect">
            <a:avLst/>
          </a:prstGeom>
          <a:noFill/>
          <a:ln/>
        </p:spPr>
        <p:txBody>
          <a:bodyPr wrap="square" lIns="0" tIns="0" rIns="0" bIns="0" rtlCol="0" anchor="t"/>
          <a:lstStyle/>
          <a:p>
            <a:pPr indent="0" marL="0">
              <a:buNone/>
            </a:pPr>
            <a:r>
              <a:rPr lang="en-US" sz="1300" dirty="0">
                <a:solidFill>
                  <a:srgbClr val="C3CED8"/>
                </a:solidFill>
                <a:latin typeface="Calibri" pitchFamily="34" charset="0"/>
                <a:ea typeface="Calibri" pitchFamily="34" charset="-122"/>
                <a:cs typeface="Calibri" pitchFamily="34" charset="-120"/>
              </a:rPr>
              <a:t>AI çıktı şemasında karar alanı yoktur; yanıt karar motorunun çıktısından kurulur.</a:t>
            </a:r>
            <a:endParaRPr lang="en-US" sz="1300" dirty="0"/>
          </a:p>
        </p:txBody>
      </p:sp>
      <p:sp>
        <p:nvSpPr>
          <p:cNvPr id="34" name="Shape 32"/>
          <p:cNvSpPr/>
          <p:nvPr/>
        </p:nvSpPr>
        <p:spPr>
          <a:xfrm>
            <a:off x="6233008" y="4526280"/>
            <a:ext cx="5410048" cy="1463040"/>
          </a:xfrm>
          <a:prstGeom prst="roundRect">
            <a:avLst>
              <a:gd name="adj" fmla="val 5000"/>
            </a:avLst>
          </a:prstGeom>
          <a:solidFill>
            <a:srgbClr val="F4F6F8"/>
          </a:solidFill>
          <a:ln w="9525">
            <a:solidFill>
              <a:srgbClr val="DCE3E9"/>
            </a:solidFill>
            <a:prstDash val="solid"/>
          </a:ln>
        </p:spPr>
      </p:sp>
      <p:sp>
        <p:nvSpPr>
          <p:cNvPr id="35" name="Text 33"/>
          <p:cNvSpPr txBox="1"/>
          <p:nvPr/>
        </p:nvSpPr>
        <p:spPr>
          <a:xfrm>
            <a:off x="6553048" y="4709160"/>
            <a:ext cx="4769968" cy="365760"/>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Yanıt ve denetim izi aynı anda üretilir</a:t>
            </a:r>
            <a:endParaRPr lang="en-US" sz="1600" dirty="0"/>
          </a:p>
        </p:txBody>
      </p:sp>
      <p:sp>
        <p:nvSpPr>
          <p:cNvPr id="36" name="Text 34"/>
          <p:cNvSpPr txBox="1"/>
          <p:nvPr/>
        </p:nvSpPr>
        <p:spPr>
          <a:xfrm>
            <a:off x="6553048" y="5120640"/>
            <a:ext cx="4769968" cy="685800"/>
          </a:xfrm>
          <a:prstGeom prst="rect">
            <a:avLst/>
          </a:prstGeom>
          <a:noFill/>
          <a:ln/>
        </p:spPr>
        <p:txBody>
          <a:bodyPr wrap="square" lIns="0" tIns="0" rIns="0" bIns="0" rtlCol="0" anchor="t"/>
          <a:lstStyle/>
          <a:p>
            <a:pPr indent="0" marL="0">
              <a:buNone/>
            </a:pPr>
            <a:r>
              <a:rPr lang="en-US" sz="1300" dirty="0">
                <a:solidFill>
                  <a:srgbClr val="3F5162"/>
                </a:solidFill>
                <a:latin typeface="Calibri" pitchFamily="34" charset="0"/>
                <a:ea typeface="Calibri" pitchFamily="34" charset="-122"/>
                <a:cs typeface="Calibri" pitchFamily="34" charset="-120"/>
              </a:rPr>
              <a:t>Her istek için tek satır audit (JSONL): karar, gerekçe kodları, süre. Kişisel veri yok.</a:t>
            </a:r>
            <a:endParaRPr lang="en-US" sz="1300" dirty="0"/>
          </a:p>
        </p:txBody>
      </p:sp>
      <p:sp>
        <p:nvSpPr>
          <p:cNvPr id="37" name="Text 35"/>
          <p:cNvSpPr txBox="1"/>
          <p:nvPr/>
        </p:nvSpPr>
        <p:spPr>
          <a:xfrm>
            <a:off x="548640" y="6355080"/>
            <a:ext cx="11094415" cy="274320"/>
          </a:xfrm>
          <a:prstGeom prst="rect">
            <a:avLst/>
          </a:prstGeom>
          <a:noFill/>
          <a:ln/>
        </p:spPr>
        <p:txBody>
          <a:bodyPr wrap="square" lIns="0" tIns="0" rIns="0" bIns="0" rtlCol="0" anchor="ctr"/>
          <a:lstStyle/>
          <a:p>
            <a:pPr algn="r" indent="0" marL="0">
              <a:buNone/>
            </a:pPr>
            <a:r>
              <a:rPr lang="en-US" sz="1000" dirty="0">
                <a:solidFill>
                  <a:srgbClr val="8B9AA8"/>
                </a:solidFill>
                <a:latin typeface="Calibri" pitchFamily="34" charset="0"/>
                <a:ea typeface="Calibri" pitchFamily="34" charset="-122"/>
                <a:cs typeface="Calibri" pitchFamily="34" charset="-120"/>
              </a:rPr>
              <a:t>Teklif Ön Değerlendirme API</a:t>
            </a:r>
            <a:pPr algn="r" indent="0" marL="0">
              <a:buNone/>
            </a:pPr>
            <a:r>
              <a:rPr lang="en-US" sz="1000" b="1" dirty="0">
                <a:solidFill>
                  <a:srgbClr val="8B9AA8"/>
                </a:solidFill>
                <a:latin typeface="Calibri" pitchFamily="34" charset="0"/>
                <a:ea typeface="Calibri" pitchFamily="34" charset="-122"/>
                <a:cs typeface="Calibri" pitchFamily="34" charset="-120"/>
              </a:rPr>
              <a:t>   3 / 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ctr"/>
          <a:lstStyle/>
          <a:p>
            <a:pPr indent="0" marL="0">
              <a:buNone/>
            </a:pPr>
            <a:r>
              <a:rPr lang="en-US" sz="3000" b="1" dirty="0">
                <a:solidFill>
                  <a:srgbClr val="16222E"/>
                </a:solidFill>
                <a:latin typeface="Calibri" pitchFamily="34" charset="0"/>
                <a:ea typeface="Calibri" pitchFamily="34" charset="-122"/>
                <a:cs typeface="Calibri" pitchFamily="34" charset="-120"/>
              </a:rPr>
              <a:t>ERP/CRM entegrasyon yaklaşımı ve teknoloji tercihleri</a:t>
            </a:r>
            <a:endParaRPr lang="en-US" sz="3000" dirty="0"/>
          </a:p>
        </p:txBody>
      </p:sp>
      <p:sp>
        <p:nvSpPr>
          <p:cNvPr id="3" name="Shape 1"/>
          <p:cNvSpPr/>
          <p:nvPr/>
        </p:nvSpPr>
        <p:spPr>
          <a:xfrm>
            <a:off x="548640" y="1463040"/>
            <a:ext cx="6492240" cy="1371600"/>
          </a:xfrm>
          <a:prstGeom prst="roundRect">
            <a:avLst>
              <a:gd name="adj" fmla="val 5333"/>
            </a:avLst>
          </a:prstGeom>
          <a:solidFill>
            <a:srgbClr val="FFFFFF"/>
          </a:solidFill>
          <a:ln w="9525">
            <a:solidFill>
              <a:srgbClr val="DCE3E9"/>
            </a:solidFill>
            <a:prstDash val="solid"/>
          </a:ln>
        </p:spPr>
      </p:sp>
      <p:sp>
        <p:nvSpPr>
          <p:cNvPr id="4" name="Text 2"/>
          <p:cNvSpPr txBox="1"/>
          <p:nvPr/>
        </p:nvSpPr>
        <p:spPr>
          <a:xfrm>
            <a:off x="868680" y="1645920"/>
            <a:ext cx="5852160" cy="320040"/>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Sorumluluk ayrımı</a:t>
            </a:r>
            <a:endParaRPr lang="en-US" sz="1600" dirty="0"/>
          </a:p>
        </p:txBody>
      </p:sp>
      <p:sp>
        <p:nvSpPr>
          <p:cNvPr id="5" name="Text 3"/>
          <p:cNvSpPr txBox="1"/>
          <p:nvPr/>
        </p:nvSpPr>
        <p:spPr>
          <a:xfrm>
            <a:off x="868680" y="2011680"/>
            <a:ext cx="5852160" cy="731520"/>
          </a:xfrm>
          <a:prstGeom prst="rect">
            <a:avLst/>
          </a:prstGeom>
          <a:noFill/>
          <a:ln/>
        </p:spPr>
        <p:txBody>
          <a:bodyPr wrap="square" lIns="0" tIns="0" rIns="0" bIns="0" rtlCol="0" anchor="t"/>
          <a:lstStyle/>
          <a:p>
            <a:pPr indent="0" marL="0">
              <a:buNone/>
            </a:pPr>
            <a:r>
              <a:rPr lang="en-US" sz="1450" dirty="0">
                <a:solidFill>
                  <a:srgbClr val="3F5162"/>
                </a:solidFill>
                <a:latin typeface="Calibri" pitchFamily="34" charset="0"/>
                <a:ea typeface="Calibri" pitchFamily="34" charset="-122"/>
                <a:cs typeface="Calibri" pitchFamily="34" charset="-120"/>
              </a:rPr>
              <a:t>CRM teklifin ve müşterinin sahibi; ERP stok, maliyet ve fiyatın. Uygulama ikisini tek çağrıda birleştirir, hiçbirine yazmaz.</a:t>
            </a:r>
            <a:endParaRPr lang="en-US" sz="1450" dirty="0"/>
          </a:p>
        </p:txBody>
      </p:sp>
      <p:sp>
        <p:nvSpPr>
          <p:cNvPr id="6" name="Shape 4"/>
          <p:cNvSpPr/>
          <p:nvPr/>
        </p:nvSpPr>
        <p:spPr>
          <a:xfrm>
            <a:off x="548640" y="3035808"/>
            <a:ext cx="6492240" cy="1371600"/>
          </a:xfrm>
          <a:prstGeom prst="roundRect">
            <a:avLst>
              <a:gd name="adj" fmla="val 5333"/>
            </a:avLst>
          </a:prstGeom>
          <a:solidFill>
            <a:srgbClr val="FFFFFF"/>
          </a:solidFill>
          <a:ln w="9525">
            <a:solidFill>
              <a:srgbClr val="DCE3E9"/>
            </a:solidFill>
            <a:prstDash val="solid"/>
          </a:ln>
        </p:spPr>
      </p:sp>
      <p:sp>
        <p:nvSpPr>
          <p:cNvPr id="7" name="Text 5"/>
          <p:cNvSpPr txBox="1"/>
          <p:nvPr/>
        </p:nvSpPr>
        <p:spPr>
          <a:xfrm>
            <a:off x="868680" y="3218688"/>
            <a:ext cx="5852160" cy="320040"/>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Arayüz sözleşmesi</a:t>
            </a:r>
            <a:endParaRPr lang="en-US" sz="1600" dirty="0"/>
          </a:p>
        </p:txBody>
      </p:sp>
      <p:sp>
        <p:nvSpPr>
          <p:cNvPr id="8" name="Text 6"/>
          <p:cNvSpPr txBox="1"/>
          <p:nvPr/>
        </p:nvSpPr>
        <p:spPr>
          <a:xfrm>
            <a:off x="868680" y="3584448"/>
            <a:ext cx="5852160" cy="731520"/>
          </a:xfrm>
          <a:prstGeom prst="rect">
            <a:avLst/>
          </a:prstGeom>
          <a:noFill/>
          <a:ln/>
        </p:spPr>
        <p:txBody>
          <a:bodyPr wrap="square" lIns="0" tIns="0" rIns="0" bIns="0" rtlCol="0" anchor="t"/>
          <a:lstStyle/>
          <a:p>
            <a:pPr indent="0" marL="0">
              <a:buNone/>
            </a:pPr>
            <a:r>
              <a:rPr lang="en-US" sz="1450" dirty="0">
                <a:solidFill>
                  <a:srgbClr val="3F5162"/>
                </a:solidFill>
                <a:latin typeface="Calibri" pitchFamily="34" charset="0"/>
                <a:ea typeface="Calibri" pitchFamily="34" charset="-122"/>
                <a:cs typeface="Calibri" pitchFamily="34" charset="-120"/>
              </a:rPr>
              <a:t>İstemciler Protocol arkasında ve bağımlılık enjeksiyonuyla veriliyor. Mock JSON yerine gerçek servis takmak yeni bir sınıf yazmak demek; endpoint kodu değişmez.</a:t>
            </a:r>
            <a:endParaRPr lang="en-US" sz="1450" dirty="0"/>
          </a:p>
        </p:txBody>
      </p:sp>
      <p:sp>
        <p:nvSpPr>
          <p:cNvPr id="9" name="Shape 7"/>
          <p:cNvSpPr/>
          <p:nvPr/>
        </p:nvSpPr>
        <p:spPr>
          <a:xfrm>
            <a:off x="548640" y="4608576"/>
            <a:ext cx="6492240" cy="1371600"/>
          </a:xfrm>
          <a:prstGeom prst="roundRect">
            <a:avLst>
              <a:gd name="adj" fmla="val 5333"/>
            </a:avLst>
          </a:prstGeom>
          <a:solidFill>
            <a:srgbClr val="FFFFFF"/>
          </a:solidFill>
          <a:ln w="9525">
            <a:solidFill>
              <a:srgbClr val="DCE3E9"/>
            </a:solidFill>
            <a:prstDash val="solid"/>
          </a:ln>
        </p:spPr>
      </p:sp>
      <p:sp>
        <p:nvSpPr>
          <p:cNvPr id="10" name="Text 8"/>
          <p:cNvSpPr txBox="1"/>
          <p:nvPr/>
        </p:nvSpPr>
        <p:spPr>
          <a:xfrm>
            <a:off x="868680" y="4791456"/>
            <a:ext cx="5852160" cy="320040"/>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Veri tutarlılığı ve hata yönetimi</a:t>
            </a:r>
            <a:endParaRPr lang="en-US" sz="1600" dirty="0"/>
          </a:p>
        </p:txBody>
      </p:sp>
      <p:sp>
        <p:nvSpPr>
          <p:cNvPr id="11" name="Text 9"/>
          <p:cNvSpPr txBox="1"/>
          <p:nvPr/>
        </p:nvSpPr>
        <p:spPr>
          <a:xfrm>
            <a:off x="868680" y="5157216"/>
            <a:ext cx="5852160" cy="731520"/>
          </a:xfrm>
          <a:prstGeom prst="rect">
            <a:avLst/>
          </a:prstGeom>
          <a:noFill/>
          <a:ln/>
        </p:spPr>
        <p:txBody>
          <a:bodyPr wrap="square" lIns="0" tIns="0" rIns="0" bIns="0" rtlCol="0" anchor="t"/>
          <a:lstStyle/>
          <a:p>
            <a:pPr indent="0" marL="0">
              <a:buNone/>
            </a:pPr>
            <a:r>
              <a:rPr lang="en-US" sz="1450" dirty="0">
                <a:solidFill>
                  <a:srgbClr val="3F5162"/>
                </a:solidFill>
                <a:latin typeface="Calibri" pitchFamily="34" charset="0"/>
                <a:ea typeface="Calibri" pitchFamily="34" charset="-122"/>
                <a:cs typeface="Calibri" pitchFamily="34" charset="-120"/>
              </a:rPr>
              <a:t>CRM kaydı doğruluk kaynağı; istekle uyuşmazlık insan onayına yönlenir. Kayıt yoksa 404, sistem erişilemiyorsa 503. Gerçek dağıtımda yeniden deneme ve devre kesici eklenir.</a:t>
            </a:r>
            <a:endParaRPr lang="en-US" sz="1450" dirty="0"/>
          </a:p>
        </p:txBody>
      </p:sp>
      <p:sp>
        <p:nvSpPr>
          <p:cNvPr id="12" name="Shape 10"/>
          <p:cNvSpPr/>
          <p:nvPr/>
        </p:nvSpPr>
        <p:spPr>
          <a:xfrm>
            <a:off x="7315200" y="1463040"/>
            <a:ext cx="4327855" cy="4517136"/>
          </a:xfrm>
          <a:prstGeom prst="roundRect">
            <a:avLst>
              <a:gd name="adj" fmla="val 1690"/>
            </a:avLst>
          </a:prstGeom>
          <a:solidFill>
            <a:srgbClr val="16222E"/>
          </a:solidFill>
          <a:ln w="12700">
            <a:solidFill>
              <a:srgbClr val="16222E"/>
            </a:solidFill>
            <a:prstDash val="solid"/>
          </a:ln>
        </p:spPr>
      </p:sp>
      <p:sp>
        <p:nvSpPr>
          <p:cNvPr id="13" name="Text 11"/>
          <p:cNvSpPr txBox="1"/>
          <p:nvPr/>
        </p:nvSpPr>
        <p:spPr>
          <a:xfrm>
            <a:off x="7635240" y="1645920"/>
            <a:ext cx="3687775"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Teknoloji tercihleri</a:t>
            </a:r>
            <a:endParaRPr lang="en-US" sz="1700" dirty="0"/>
          </a:p>
        </p:txBody>
      </p:sp>
      <p:sp>
        <p:nvSpPr>
          <p:cNvPr id="14" name="Text 12"/>
          <p:cNvSpPr txBox="1"/>
          <p:nvPr/>
        </p:nvSpPr>
        <p:spPr>
          <a:xfrm>
            <a:off x="7635240" y="2103120"/>
            <a:ext cx="3687775" cy="36576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FastAPI + Pydantic</a:t>
            </a:r>
            <a:endParaRPr lang="en-US" sz="1500" dirty="0"/>
          </a:p>
          <a:p>
            <a:pPr indent="0" marL="0">
              <a:spcAft>
                <a:spcPts val="1200"/>
              </a:spcAft>
              <a:buNone/>
            </a:pPr>
            <a:r>
              <a:rPr lang="en-US" sz="1350" dirty="0">
                <a:solidFill>
                  <a:srgbClr val="C3CED8"/>
                </a:solidFill>
                <a:latin typeface="Calibri" pitchFamily="34" charset="0"/>
                <a:ea typeface="Calibri" pitchFamily="34" charset="-122"/>
                <a:cs typeface="Calibri" pitchFamily="34" charset="-120"/>
              </a:rPr>
              <a:t>Doğrulama ve kontrollü hata çerçeveyle geliyor.</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langchain-core</a:t>
            </a:r>
            <a:endParaRPr lang="en-US" sz="1500" dirty="0"/>
          </a:p>
          <a:p>
            <a:pPr indent="0" marL="0">
              <a:spcAft>
                <a:spcPts val="1200"/>
              </a:spcAft>
              <a:buNone/>
            </a:pPr>
            <a:r>
              <a:rPr lang="en-US" sz="1350" dirty="0">
                <a:solidFill>
                  <a:srgbClr val="C3CED8"/>
                </a:solidFill>
                <a:latin typeface="Calibri" pitchFamily="34" charset="0"/>
                <a:ea typeface="Calibri" pitchFamily="34" charset="-122"/>
                <a:cs typeface="Calibri" pitchFamily="34" charset="-120"/>
              </a:rPr>
              <a:t>Prompt template ve tool calling standart; sağlayıcı değişimi tek noktada.</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Mock LLM</a:t>
            </a:r>
            <a:endParaRPr lang="en-US" sz="1500" dirty="0"/>
          </a:p>
          <a:p>
            <a:pPr indent="0" marL="0">
              <a:spcAft>
                <a:spcPts val="1200"/>
              </a:spcAft>
              <a:buNone/>
            </a:pPr>
            <a:r>
              <a:rPr lang="en-US" sz="1350" dirty="0">
                <a:solidFill>
                  <a:srgbClr val="C3CED8"/>
                </a:solidFill>
                <a:latin typeface="Calibri" pitchFamily="34" charset="0"/>
                <a:ea typeface="Calibri" pitchFamily="34" charset="-122"/>
                <a:cs typeface="Calibri" pitchFamily="34" charset="-120"/>
              </a:rPr>
              <a:t>Gerçek tool çağrısı üretir; anahtarsız çalışır, testler deterministik.</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LangGraph yok</a:t>
            </a:r>
            <a:endParaRPr lang="en-US" sz="1500" dirty="0"/>
          </a:p>
          <a:p>
            <a:pPr indent="0" marL="0">
              <a:spcAft>
                <a:spcPts val="1200"/>
              </a:spcAft>
              <a:buNone/>
            </a:pPr>
            <a:r>
              <a:rPr lang="en-US" sz="1350" dirty="0">
                <a:solidFill>
                  <a:srgbClr val="C3CED8"/>
                </a:solidFill>
                <a:latin typeface="Calibri" pitchFamily="34" charset="0"/>
                <a:ea typeface="Calibri" pitchFamily="34" charset="-122"/>
                <a:cs typeface="Calibri" pitchFamily="34" charset="-120"/>
              </a:rPr>
              <a:t>Akış doğrusal; onay döngüsü eklenirse gerekçesi doğar.</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Copilot Studio</a:t>
            </a:r>
            <a:endParaRPr lang="en-US" sz="1500" dirty="0"/>
          </a:p>
          <a:p>
            <a:pPr indent="0" marL="0">
              <a:spcAft>
                <a:spcPts val="1200"/>
              </a:spcAft>
              <a:buNone/>
            </a:pPr>
            <a:r>
              <a:rPr lang="en-US" sz="1350" dirty="0">
                <a:solidFill>
                  <a:srgbClr val="C3CED8"/>
                </a:solidFill>
                <a:latin typeface="Calibri" pitchFamily="34" charset="0"/>
                <a:ea typeface="Calibri" pitchFamily="34" charset="-122"/>
                <a:cs typeface="Calibri" pitchFamily="34" charset="-120"/>
              </a:rPr>
              <a:t>Servisin önünde kanal katmanı; karar ve denetim burada kalır.</a:t>
            </a:r>
            <a:endParaRPr lang="en-US" sz="1500" dirty="0"/>
          </a:p>
        </p:txBody>
      </p:sp>
      <p:sp>
        <p:nvSpPr>
          <p:cNvPr id="15" name="Text 13"/>
          <p:cNvSpPr txBox="1"/>
          <p:nvPr/>
        </p:nvSpPr>
        <p:spPr>
          <a:xfrm>
            <a:off x="548640" y="6355080"/>
            <a:ext cx="11094415" cy="274320"/>
          </a:xfrm>
          <a:prstGeom prst="rect">
            <a:avLst/>
          </a:prstGeom>
          <a:noFill/>
          <a:ln/>
        </p:spPr>
        <p:txBody>
          <a:bodyPr wrap="square" lIns="0" tIns="0" rIns="0" bIns="0" rtlCol="0" anchor="ctr"/>
          <a:lstStyle/>
          <a:p>
            <a:pPr algn="r" indent="0" marL="0">
              <a:buNone/>
            </a:pPr>
            <a:r>
              <a:rPr lang="en-US" sz="1000" dirty="0">
                <a:solidFill>
                  <a:srgbClr val="8B9AA8"/>
                </a:solidFill>
                <a:latin typeface="Calibri" pitchFamily="34" charset="0"/>
                <a:ea typeface="Calibri" pitchFamily="34" charset="-122"/>
                <a:cs typeface="Calibri" pitchFamily="34" charset="-120"/>
              </a:rPr>
              <a:t>Teklif Ön Değerlendirme API</a:t>
            </a:r>
            <a:pPr algn="r" indent="0" marL="0">
              <a:buNone/>
            </a:pPr>
            <a:r>
              <a:rPr lang="en-US" sz="1000" b="1" dirty="0">
                <a:solidFill>
                  <a:srgbClr val="8B9AA8"/>
                </a:solidFill>
                <a:latin typeface="Calibri" pitchFamily="34" charset="0"/>
                <a:ea typeface="Calibri" pitchFamily="34" charset="-122"/>
                <a:cs typeface="Calibri" pitchFamily="34" charset="-120"/>
              </a:rPr>
              <a:t>   4 / 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ctr"/>
          <a:lstStyle/>
          <a:p>
            <a:pPr indent="0" marL="0">
              <a:buNone/>
            </a:pPr>
            <a:r>
              <a:rPr lang="en-US" sz="3400" b="1" dirty="0">
                <a:solidFill>
                  <a:srgbClr val="16222E"/>
                </a:solidFill>
                <a:latin typeface="Calibri" pitchFamily="34" charset="0"/>
                <a:ea typeface="Calibri" pitchFamily="34" charset="-122"/>
                <a:cs typeface="Calibri" pitchFamily="34" charset="-120"/>
              </a:rPr>
              <a:t>Karar mekanizması</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2788920"/>
                <a:gridCol w="2423160"/>
                <a:gridCol w="1737360"/>
              </a:tblGrid>
              <a:tr h="512064">
                <a:tc>
                  <a:txBody>
                    <a:bodyPr/>
                    <a:lstStyle/>
                    <a:p>
                      <a:pPr indent="0" marL="0">
                        <a:buNone/>
                      </a:pPr>
                      <a:r>
                        <a:rPr lang="en-US" sz="1100" b="1" spc="100" kern="0" dirty="0">
                          <a:solidFill>
                            <a:srgbClr val="5B6B7A"/>
                          </a:solidFill>
                          <a:latin typeface="Calibri" pitchFamily="34" charset="0"/>
                          <a:ea typeface="Calibri" pitchFamily="34" charset="-122"/>
                          <a:cs typeface="Calibri" pitchFamily="34" charset="-120"/>
                        </a:rPr>
                        <a:t>KURAL</a:t>
                      </a:r>
                      <a:endParaRPr lang="en-US" sz="11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6F8"/>
                    </a:solidFill>
                  </a:tcPr>
                </a:tc>
                <a:tc>
                  <a:txBody>
                    <a:bodyPr/>
                    <a:lstStyle/>
                    <a:p>
                      <a:pPr indent="0" marL="0">
                        <a:buNone/>
                      </a:pPr>
                      <a:r>
                        <a:rPr lang="en-US" sz="1100" b="1" spc="100" kern="0" dirty="0">
                          <a:solidFill>
                            <a:srgbClr val="5B6B7A"/>
                          </a:solidFill>
                          <a:latin typeface="Calibri" pitchFamily="34" charset="0"/>
                          <a:ea typeface="Calibri" pitchFamily="34" charset="-122"/>
                          <a:cs typeface="Calibri" pitchFamily="34" charset="-120"/>
                        </a:rPr>
                        <a:t>GEREKÇE KODU</a:t>
                      </a:r>
                      <a:endParaRPr lang="en-US" sz="11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6F8"/>
                    </a:solidFill>
                  </a:tcPr>
                </a:tc>
                <a:tc>
                  <a:txBody>
                    <a:bodyPr/>
                    <a:lstStyle/>
                    <a:p>
                      <a:pPr indent="0" marL="0">
                        <a:buNone/>
                      </a:pPr>
                      <a:r>
                        <a:rPr lang="en-US" sz="1100" b="1" spc="100" kern="0" dirty="0">
                          <a:solidFill>
                            <a:srgbClr val="5B6B7A"/>
                          </a:solidFill>
                          <a:latin typeface="Calibri" pitchFamily="34" charset="0"/>
                          <a:ea typeface="Calibri" pitchFamily="34" charset="-122"/>
                          <a:cs typeface="Calibri" pitchFamily="34" charset="-120"/>
                        </a:rPr>
                        <a:t>KARAR</a:t>
                      </a:r>
                      <a:endParaRPr lang="en-US" sz="11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solidFill>
                      <a:srgbClr val="F4F6F8"/>
                    </a:solidFill>
                  </a:tcPr>
                </a:tc>
              </a:tr>
              <a:tr h="512064">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Stok sıfır</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OUT_OF_STOCK</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b="1" dirty="0">
                          <a:solidFill>
                            <a:srgbClr val="A23A2A"/>
                          </a:solidFill>
                          <a:latin typeface="Calibri" pitchFamily="34" charset="0"/>
                          <a:ea typeface="Calibri" pitchFamily="34" charset="-122"/>
                          <a:cs typeface="Calibri" pitchFamily="34" charset="-120"/>
                        </a:rPr>
                        <a:t>REJECT</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512064">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Stok talebi karşılamıyor</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INSUFFICIENT_STOCK</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b="1" dirty="0">
                          <a:solidFill>
                            <a:srgbClr val="15618F"/>
                          </a:solidFill>
                          <a:latin typeface="Calibri" pitchFamily="34" charset="0"/>
                          <a:ea typeface="Calibri" pitchFamily="34" charset="-122"/>
                          <a:cs typeface="Calibri" pitchFamily="34" charset="-120"/>
                        </a:rPr>
                        <a:t>NEED_APPROVAL</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512064">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İstek ile CRM kaydı uyuşmuyor</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DATA_INCONSISTENCY</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b="1" dirty="0">
                          <a:solidFill>
                            <a:srgbClr val="15618F"/>
                          </a:solidFill>
                          <a:latin typeface="Calibri" pitchFamily="34" charset="0"/>
                          <a:ea typeface="Calibri" pitchFamily="34" charset="-122"/>
                          <a:cs typeface="Calibri" pitchFamily="34" charset="-120"/>
                        </a:rPr>
                        <a:t>NEED_APPROVAL</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512064">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Marj eşiğin altında</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LOW_MARGIN</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b="1" dirty="0">
                          <a:solidFill>
                            <a:srgbClr val="15618F"/>
                          </a:solidFill>
                          <a:latin typeface="Calibri" pitchFamily="34" charset="0"/>
                          <a:ea typeface="Calibri" pitchFamily="34" charset="-122"/>
                          <a:cs typeface="Calibri" pitchFamily="34" charset="-120"/>
                        </a:rPr>
                        <a:t>NEED_APPROVAL</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512064">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Tutar eşiğin üzerinde</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HIGH_VALUE_OFFER</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b="1" dirty="0">
                          <a:solidFill>
                            <a:srgbClr val="15618F"/>
                          </a:solidFill>
                          <a:latin typeface="Calibri" pitchFamily="34" charset="0"/>
                          <a:ea typeface="Calibri" pitchFamily="34" charset="-122"/>
                          <a:cs typeface="Calibri" pitchFamily="34" charset="-120"/>
                        </a:rPr>
                        <a:t>NEED_APPROVAL</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512064">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Stratejik bayi, yüksek indirim</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HIGH_DISCOUNT_STRATEGIC</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b="1" dirty="0">
                          <a:solidFill>
                            <a:srgbClr val="15618F"/>
                          </a:solidFill>
                          <a:latin typeface="Calibri" pitchFamily="34" charset="0"/>
                          <a:ea typeface="Calibri" pitchFamily="34" charset="-122"/>
                          <a:cs typeface="Calibri" pitchFamily="34" charset="-120"/>
                        </a:rPr>
                        <a:t>NEED_APPROVAL</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r h="512064">
                <a:tc>
                  <a:txBody>
                    <a:bodyPr/>
                    <a:lstStyle/>
                    <a:p>
                      <a:pPr indent="0" marL="0">
                        <a:buNone/>
                      </a:pPr>
                      <a:r>
                        <a:rPr lang="en-US" sz="1300" dirty="0">
                          <a:solidFill>
                            <a:srgbClr val="16222E"/>
                          </a:solidFill>
                          <a:latin typeface="Calibri" pitchFamily="34" charset="0"/>
                          <a:ea typeface="Calibri" pitchFamily="34" charset="-122"/>
                          <a:cs typeface="Calibri" pitchFamily="34" charset="-120"/>
                        </a:rPr>
                        <a:t>Hiçbir kural tetiklenmedi</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dirty="0">
                          <a:solidFill>
                            <a:srgbClr val="8B9AA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c>
                  <a:txBody>
                    <a:bodyPr/>
                    <a:lstStyle/>
                    <a:p>
                      <a:pPr indent="0" marL="0">
                        <a:buNone/>
                      </a:pPr>
                      <a:r>
                        <a:rPr lang="en-US" sz="1300" b="1" dirty="0">
                          <a:solidFill>
                            <a:srgbClr val="2C6E49"/>
                          </a:solidFill>
                          <a:latin typeface="Calibri" pitchFamily="34" charset="0"/>
                          <a:ea typeface="Calibri" pitchFamily="34" charset="-122"/>
                          <a:cs typeface="Calibri" pitchFamily="34" charset="-120"/>
                        </a:rPr>
                        <a:t>APPROVE</a:t>
                      </a:r>
                      <a:endParaRPr lang="en-US" sz="1300" dirty="0">
                        <a:latin typeface="Calibri" charset="0"/>
                        <a:ea typeface="Calibri" charset="0"/>
                        <a:cs typeface="Calibri" charset="0"/>
                      </a:endParaRPr>
                    </a:p>
                  </a:txBody>
                  <a:tcPr marL="109728" marR="109728" marT="0" marB="0" anchor="ctr">
                    <a:lnL w="9525" cap="flat" cmpd="sng" algn="ctr">
                      <a:solidFill>
                        <a:srgbClr val="DCE3E9"/>
                      </a:solidFill>
                      <a:prstDash val="solid"/>
                      <a:round/>
                      <a:headEnd type="none" w="med" len="med"/>
                      <a:tailEnd type="none" w="med" len="med"/>
                    </a:lnL>
                    <a:lnR w="9525" cap="flat" cmpd="sng" algn="ctr">
                      <a:solidFill>
                        <a:srgbClr val="DCE3E9"/>
                      </a:solidFill>
                      <a:prstDash val="solid"/>
                      <a:round/>
                      <a:headEnd type="none" w="med" len="med"/>
                      <a:tailEnd type="none" w="med" len="med"/>
                    </a:lnR>
                    <a:lnT w="9525" cap="flat" cmpd="sng" algn="ctr">
                      <a:solidFill>
                        <a:srgbClr val="DCE3E9"/>
                      </a:solidFill>
                      <a:prstDash val="solid"/>
                      <a:round/>
                      <a:headEnd type="none" w="med" len="med"/>
                      <a:tailEnd type="none" w="med" len="med"/>
                    </a:lnT>
                    <a:lnB w="9525" cap="flat" cmpd="sng" algn="ctr">
                      <a:solidFill>
                        <a:srgbClr val="DCE3E9"/>
                      </a:solidFill>
                      <a:prstDash val="solid"/>
                      <a:round/>
                      <a:headEnd type="none" w="med" len="med"/>
                      <a:tailEnd type="none" w="med" len="med"/>
                    </a:lnB>
                  </a:tcPr>
                </a:tc>
              </a:tr>
            </a:tbl>
          </a:graphicData>
        </a:graphic>
      </p:graphicFrame>
      <p:sp>
        <p:nvSpPr>
          <p:cNvPr id="4" name="Shape 1"/>
          <p:cNvSpPr/>
          <p:nvPr/>
        </p:nvSpPr>
        <p:spPr>
          <a:xfrm>
            <a:off x="7818120" y="1463040"/>
            <a:ext cx="3824935" cy="1234440"/>
          </a:xfrm>
          <a:prstGeom prst="roundRect">
            <a:avLst>
              <a:gd name="adj" fmla="val 5926"/>
            </a:avLst>
          </a:prstGeom>
          <a:solidFill>
            <a:srgbClr val="EEF3F7"/>
          </a:solidFill>
          <a:ln w="9525">
            <a:solidFill>
              <a:srgbClr val="EEF3F7"/>
            </a:solidFill>
            <a:prstDash val="solid"/>
          </a:ln>
        </p:spPr>
      </p:sp>
      <p:sp>
        <p:nvSpPr>
          <p:cNvPr id="5" name="Text 2"/>
          <p:cNvSpPr txBox="1"/>
          <p:nvPr/>
        </p:nvSpPr>
        <p:spPr>
          <a:xfrm>
            <a:off x="8092440" y="1618488"/>
            <a:ext cx="3276295" cy="292608"/>
          </a:xfrm>
          <a:prstGeom prst="rect">
            <a:avLst/>
          </a:prstGeom>
          <a:noFill/>
          <a:ln/>
        </p:spPr>
        <p:txBody>
          <a:bodyPr wrap="square" lIns="0" tIns="0" rIns="0" bIns="0" rtlCol="0" anchor="ctr"/>
          <a:lstStyle/>
          <a:p>
            <a:pPr indent="0" marL="0">
              <a:buNone/>
            </a:pPr>
            <a:r>
              <a:rPr lang="en-US" sz="1500" b="1" dirty="0">
                <a:solidFill>
                  <a:srgbClr val="16222E"/>
                </a:solidFill>
                <a:latin typeface="Calibri" pitchFamily="34" charset="0"/>
                <a:ea typeface="Calibri" pitchFamily="34" charset="-122"/>
                <a:cs typeface="Calibri" pitchFamily="34" charset="-120"/>
              </a:rPr>
              <a:t>Öncelik</a:t>
            </a:r>
            <a:endParaRPr lang="en-US" sz="1500" dirty="0"/>
          </a:p>
        </p:txBody>
      </p:sp>
      <p:sp>
        <p:nvSpPr>
          <p:cNvPr id="6" name="Text 3"/>
          <p:cNvSpPr txBox="1"/>
          <p:nvPr/>
        </p:nvSpPr>
        <p:spPr>
          <a:xfrm>
            <a:off x="8092440" y="1938528"/>
            <a:ext cx="3276295" cy="685800"/>
          </a:xfrm>
          <a:prstGeom prst="rect">
            <a:avLst/>
          </a:prstGeom>
          <a:noFill/>
          <a:ln/>
        </p:spPr>
        <p:txBody>
          <a:bodyPr wrap="square" lIns="0" tIns="0" rIns="0" bIns="0" rtlCol="0" anchor="t"/>
          <a:lstStyle/>
          <a:p>
            <a:pPr indent="0" marL="0">
              <a:buNone/>
            </a:pPr>
            <a:r>
              <a:rPr lang="en-US" sz="1200" dirty="0">
                <a:solidFill>
                  <a:srgbClr val="3F5162"/>
                </a:solidFill>
                <a:latin typeface="Calibri" pitchFamily="34" charset="0"/>
                <a:ea typeface="Calibri" pitchFamily="34" charset="-122"/>
                <a:cs typeface="Calibri" pitchFamily="34" charset="-120"/>
              </a:rPr>
              <a:t>REJECT &gt; NEED_APPROVAL &gt; APPROVE. En temkinli karar kazanır; tetiklenen tüm gerekçe kodları birlikte döner.</a:t>
            </a:r>
            <a:endParaRPr lang="en-US" sz="1200" dirty="0"/>
          </a:p>
        </p:txBody>
      </p:sp>
      <p:sp>
        <p:nvSpPr>
          <p:cNvPr id="7" name="Shape 4"/>
          <p:cNvSpPr/>
          <p:nvPr/>
        </p:nvSpPr>
        <p:spPr>
          <a:xfrm>
            <a:off x="7818120" y="2862072"/>
            <a:ext cx="3824935" cy="1234440"/>
          </a:xfrm>
          <a:prstGeom prst="roundRect">
            <a:avLst>
              <a:gd name="adj" fmla="val 5926"/>
            </a:avLst>
          </a:prstGeom>
          <a:solidFill>
            <a:srgbClr val="F4F6F8"/>
          </a:solidFill>
          <a:ln w="9525">
            <a:solidFill>
              <a:srgbClr val="DCE3E9"/>
            </a:solidFill>
            <a:prstDash val="solid"/>
          </a:ln>
        </p:spPr>
      </p:sp>
      <p:sp>
        <p:nvSpPr>
          <p:cNvPr id="8" name="Text 5"/>
          <p:cNvSpPr txBox="1"/>
          <p:nvPr/>
        </p:nvSpPr>
        <p:spPr>
          <a:xfrm>
            <a:off x="8092440" y="3017520"/>
            <a:ext cx="3276295" cy="292608"/>
          </a:xfrm>
          <a:prstGeom prst="rect">
            <a:avLst/>
          </a:prstGeom>
          <a:noFill/>
          <a:ln/>
        </p:spPr>
        <p:txBody>
          <a:bodyPr wrap="square" lIns="0" tIns="0" rIns="0" bIns="0" rtlCol="0" anchor="ctr"/>
          <a:lstStyle/>
          <a:p>
            <a:pPr indent="0" marL="0">
              <a:buNone/>
            </a:pPr>
            <a:r>
              <a:rPr lang="en-US" sz="1500" b="1" dirty="0">
                <a:solidFill>
                  <a:srgbClr val="16222E"/>
                </a:solidFill>
                <a:latin typeface="Calibri" pitchFamily="34" charset="0"/>
                <a:ea typeface="Calibri" pitchFamily="34" charset="-122"/>
                <a:cs typeface="Calibri" pitchFamily="34" charset="-120"/>
              </a:rPr>
              <a:t>Sınır değerler</a:t>
            </a:r>
            <a:endParaRPr lang="en-US" sz="1500" dirty="0"/>
          </a:p>
        </p:txBody>
      </p:sp>
      <p:sp>
        <p:nvSpPr>
          <p:cNvPr id="9" name="Text 6"/>
          <p:cNvSpPr txBox="1"/>
          <p:nvPr/>
        </p:nvSpPr>
        <p:spPr>
          <a:xfrm>
            <a:off x="8092440" y="3337560"/>
            <a:ext cx="3276295" cy="685800"/>
          </a:xfrm>
          <a:prstGeom prst="rect">
            <a:avLst/>
          </a:prstGeom>
          <a:noFill/>
          <a:ln/>
        </p:spPr>
        <p:txBody>
          <a:bodyPr wrap="square" lIns="0" tIns="0" rIns="0" bIns="0" rtlCol="0" anchor="t"/>
          <a:lstStyle/>
          <a:p>
            <a:pPr indent="0" marL="0">
              <a:buNone/>
            </a:pPr>
            <a:r>
              <a:rPr lang="en-US" sz="1200" dirty="0">
                <a:solidFill>
                  <a:srgbClr val="3F5162"/>
                </a:solidFill>
                <a:latin typeface="Calibri" pitchFamily="34" charset="0"/>
                <a:ea typeface="Calibri" pitchFamily="34" charset="-122"/>
                <a:cs typeface="Calibri" pitchFamily="34" charset="-120"/>
              </a:rPr>
              <a:t>Eşitlik hiçbir kuralı tetiklemez; sınır testleriyle sabitlendi.</a:t>
            </a:r>
            <a:endParaRPr lang="en-US" sz="1200" dirty="0"/>
          </a:p>
        </p:txBody>
      </p:sp>
      <p:sp>
        <p:nvSpPr>
          <p:cNvPr id="10" name="Shape 7"/>
          <p:cNvSpPr/>
          <p:nvPr/>
        </p:nvSpPr>
        <p:spPr>
          <a:xfrm>
            <a:off x="7818120" y="4261104"/>
            <a:ext cx="3824935" cy="1234440"/>
          </a:xfrm>
          <a:prstGeom prst="roundRect">
            <a:avLst>
              <a:gd name="adj" fmla="val 5926"/>
            </a:avLst>
          </a:prstGeom>
          <a:solidFill>
            <a:srgbClr val="F4F6F8"/>
          </a:solidFill>
          <a:ln w="9525">
            <a:solidFill>
              <a:srgbClr val="DCE3E9"/>
            </a:solidFill>
            <a:prstDash val="solid"/>
          </a:ln>
        </p:spPr>
      </p:sp>
      <p:sp>
        <p:nvSpPr>
          <p:cNvPr id="11" name="Text 8"/>
          <p:cNvSpPr txBox="1"/>
          <p:nvPr/>
        </p:nvSpPr>
        <p:spPr>
          <a:xfrm>
            <a:off x="8092440" y="4416552"/>
            <a:ext cx="3276295" cy="292608"/>
          </a:xfrm>
          <a:prstGeom prst="rect">
            <a:avLst/>
          </a:prstGeom>
          <a:noFill/>
          <a:ln/>
        </p:spPr>
        <p:txBody>
          <a:bodyPr wrap="square" lIns="0" tIns="0" rIns="0" bIns="0" rtlCol="0" anchor="ctr"/>
          <a:lstStyle/>
          <a:p>
            <a:pPr indent="0" marL="0">
              <a:buNone/>
            </a:pPr>
            <a:r>
              <a:rPr lang="en-US" sz="1500" b="1" dirty="0">
                <a:solidFill>
                  <a:srgbClr val="16222E"/>
                </a:solidFill>
                <a:latin typeface="Calibri" pitchFamily="34" charset="0"/>
                <a:ea typeface="Calibri" pitchFamily="34" charset="-122"/>
                <a:cs typeface="Calibri" pitchFamily="34" charset="-120"/>
              </a:rPr>
              <a:t>Marj, nakliye dahil</a:t>
            </a:r>
            <a:endParaRPr lang="en-US" sz="1500" dirty="0"/>
          </a:p>
        </p:txBody>
      </p:sp>
      <p:sp>
        <p:nvSpPr>
          <p:cNvPr id="12" name="Text 9"/>
          <p:cNvSpPr txBox="1"/>
          <p:nvPr/>
        </p:nvSpPr>
        <p:spPr>
          <a:xfrm>
            <a:off x="8092440" y="4736592"/>
            <a:ext cx="3276295" cy="685800"/>
          </a:xfrm>
          <a:prstGeom prst="rect">
            <a:avLst/>
          </a:prstGeom>
          <a:noFill/>
          <a:ln/>
        </p:spPr>
        <p:txBody>
          <a:bodyPr wrap="square" lIns="0" tIns="0" rIns="0" bIns="0" rtlCol="0" anchor="t"/>
          <a:lstStyle/>
          <a:p>
            <a:pPr indent="0" marL="0">
              <a:buNone/>
            </a:pPr>
            <a:r>
              <a:rPr lang="en-US" sz="1200" dirty="0">
                <a:solidFill>
                  <a:srgbClr val="3F5162"/>
                </a:solidFill>
                <a:latin typeface="Calibri" pitchFamily="34" charset="0"/>
                <a:ea typeface="Calibri" pitchFamily="34" charset="-122"/>
                <a:cs typeface="Calibri" pitchFamily="34" charset="-120"/>
              </a:rPr>
              <a:t>(tutar − (birim maliyet + nakliye) × adet) / tutar. Eşikler .env'den; marka bazlı eşik desteklenir.</a:t>
            </a:r>
            <a:endParaRPr lang="en-US" sz="1200" dirty="0"/>
          </a:p>
        </p:txBody>
      </p:sp>
      <p:sp>
        <p:nvSpPr>
          <p:cNvPr id="13" name="Text 10"/>
          <p:cNvSpPr txBox="1"/>
          <p:nvPr/>
        </p:nvSpPr>
        <p:spPr>
          <a:xfrm>
            <a:off x="548640" y="6355080"/>
            <a:ext cx="11094415" cy="274320"/>
          </a:xfrm>
          <a:prstGeom prst="rect">
            <a:avLst/>
          </a:prstGeom>
          <a:noFill/>
          <a:ln/>
        </p:spPr>
        <p:txBody>
          <a:bodyPr wrap="square" lIns="0" tIns="0" rIns="0" bIns="0" rtlCol="0" anchor="ctr"/>
          <a:lstStyle/>
          <a:p>
            <a:pPr algn="r" indent="0" marL="0">
              <a:buNone/>
            </a:pPr>
            <a:r>
              <a:rPr lang="en-US" sz="1000" dirty="0">
                <a:solidFill>
                  <a:srgbClr val="8B9AA8"/>
                </a:solidFill>
                <a:latin typeface="Calibri" pitchFamily="34" charset="0"/>
                <a:ea typeface="Calibri" pitchFamily="34" charset="-122"/>
                <a:cs typeface="Calibri" pitchFamily="34" charset="-120"/>
              </a:rPr>
              <a:t>Teklif Ön Değerlendirme API</a:t>
            </a:r>
            <a:pPr algn="r" indent="0" marL="0">
              <a:buNone/>
            </a:pPr>
            <a:r>
              <a:rPr lang="en-US" sz="1000" b="1" dirty="0">
                <a:solidFill>
                  <a:srgbClr val="8B9AA8"/>
                </a:solidFill>
                <a:latin typeface="Calibri" pitchFamily="34" charset="0"/>
                <a:ea typeface="Calibri" pitchFamily="34" charset="-122"/>
                <a:cs typeface="Calibri" pitchFamily="34" charset="-120"/>
              </a:rPr>
              <a:t>   5 / 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ctr"/>
          <a:lstStyle/>
          <a:p>
            <a:pPr indent="0" marL="0">
              <a:buNone/>
            </a:pPr>
            <a:r>
              <a:rPr lang="en-US" sz="3000" b="1" dirty="0">
                <a:solidFill>
                  <a:srgbClr val="16222E"/>
                </a:solidFill>
                <a:latin typeface="Calibri" pitchFamily="34" charset="0"/>
                <a:ea typeface="Calibri" pitchFamily="34" charset="-122"/>
                <a:cs typeface="Calibri" pitchFamily="34" charset="-120"/>
              </a:rPr>
              <a:t>Güvenlik: en güvenli veri, hiç dolaşmayan veridir</a:t>
            </a:r>
            <a:endParaRPr lang="en-US" sz="3000" dirty="0"/>
          </a:p>
        </p:txBody>
      </p:sp>
      <p:sp>
        <p:nvSpPr>
          <p:cNvPr id="3" name="Shape 1"/>
          <p:cNvSpPr/>
          <p:nvPr/>
        </p:nvSpPr>
        <p:spPr>
          <a:xfrm>
            <a:off x="548640" y="1463040"/>
            <a:ext cx="3515258" cy="4114800"/>
          </a:xfrm>
          <a:prstGeom prst="roundRect">
            <a:avLst>
              <a:gd name="adj" fmla="val 2081"/>
            </a:avLst>
          </a:prstGeom>
          <a:solidFill>
            <a:srgbClr val="FFFFFF"/>
          </a:solidFill>
          <a:ln w="9525">
            <a:solidFill>
              <a:srgbClr val="DCE3E9"/>
            </a:solidFill>
            <a:prstDash val="solid"/>
          </a:ln>
        </p:spPr>
      </p:sp>
      <p:sp>
        <p:nvSpPr>
          <p:cNvPr id="4" name="Shape 2"/>
          <p:cNvSpPr/>
          <p:nvPr/>
        </p:nvSpPr>
        <p:spPr>
          <a:xfrm>
            <a:off x="822960" y="1737360"/>
            <a:ext cx="502920" cy="502920"/>
          </a:xfrm>
          <a:prstGeom prst="ellipse">
            <a:avLst/>
          </a:prstGeom>
          <a:solidFill>
            <a:srgbClr val="15618F"/>
          </a:solidFill>
          <a:ln w="12700">
            <a:solidFill>
              <a:srgbClr val="15618F"/>
            </a:solidFill>
            <a:prstDash val="solid"/>
          </a:ln>
        </p:spPr>
      </p:sp>
      <p:pic>
        <p:nvPicPr>
          <p:cNvPr id="5" name="Image 0" descr="preencoded.png">    </p:cNvPr>
          <p:cNvPicPr>
            <a:picLocks noChangeAspect="1"/>
          </p:cNvPicPr>
          <p:nvPr/>
        </p:nvPicPr>
        <p:blipFill>
          <a:blip r:embed="rId1"/>
          <a:stretch>
            <a:fillRect/>
          </a:stretch>
        </p:blipFill>
        <p:spPr>
          <a:xfrm>
            <a:off x="948690" y="1863090"/>
            <a:ext cx="251460" cy="251460"/>
          </a:xfrm>
          <a:prstGeom prst="rect">
            <a:avLst/>
          </a:prstGeom>
        </p:spPr>
      </p:pic>
      <p:sp>
        <p:nvSpPr>
          <p:cNvPr id="6" name="Text 3"/>
          <p:cNvSpPr txBox="1"/>
          <p:nvPr/>
        </p:nvSpPr>
        <p:spPr>
          <a:xfrm>
            <a:off x="1463040" y="1764792"/>
            <a:ext cx="2417978" cy="457200"/>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Yapay zekâya ne gidiyor?</a:t>
            </a:r>
            <a:endParaRPr lang="en-US" sz="1600" dirty="0"/>
          </a:p>
        </p:txBody>
      </p:sp>
      <p:sp>
        <p:nvSpPr>
          <p:cNvPr id="7" name="Text 4"/>
          <p:cNvSpPr txBox="1"/>
          <p:nvPr/>
        </p:nvSpPr>
        <p:spPr>
          <a:xfrm>
            <a:off x="822960" y="2514600"/>
            <a:ext cx="2966618" cy="256032"/>
          </a:xfrm>
          <a:prstGeom prst="rect">
            <a:avLst/>
          </a:prstGeom>
          <a:noFill/>
          <a:ln/>
        </p:spPr>
        <p:txBody>
          <a:bodyPr wrap="square" lIns="0" tIns="0" rIns="0" bIns="0" rtlCol="0" anchor="ctr"/>
          <a:lstStyle/>
          <a:p>
            <a:pPr indent="0" marL="0">
              <a:buNone/>
            </a:pPr>
            <a:r>
              <a:rPr lang="en-US" sz="1000" b="1" spc="150" kern="0" dirty="0">
                <a:solidFill>
                  <a:srgbClr val="2C6E49"/>
                </a:solidFill>
                <a:latin typeface="Calibri" pitchFamily="34" charset="0"/>
                <a:ea typeface="Calibri" pitchFamily="34" charset="-122"/>
                <a:cs typeface="Calibri" pitchFamily="34" charset="-120"/>
              </a:rPr>
              <a:t>GİDEN</a:t>
            </a:r>
            <a:endParaRPr lang="en-US" sz="1000" dirty="0"/>
          </a:p>
        </p:txBody>
      </p:sp>
      <p:sp>
        <p:nvSpPr>
          <p:cNvPr id="8" name="Text 5"/>
          <p:cNvSpPr txBox="1"/>
          <p:nvPr/>
        </p:nvSpPr>
        <p:spPr>
          <a:xfrm>
            <a:off x="822960" y="2788920"/>
            <a:ext cx="2966618" cy="1097280"/>
          </a:xfrm>
          <a:prstGeom prst="rect">
            <a:avLst/>
          </a:prstGeom>
          <a:noFill/>
          <a:ln/>
        </p:spPr>
        <p:txBody>
          <a:bodyPr wrap="square" lIns="0" tIns="0" rIns="0" bIns="0" rtlCol="0" anchor="t"/>
          <a:lstStyle/>
          <a:p>
            <a:pPr indent="0" marL="0">
              <a:buNone/>
            </a:pPr>
            <a:r>
              <a:rPr lang="en-US" sz="1350" dirty="0">
                <a:solidFill>
                  <a:srgbClr val="3F5162"/>
                </a:solidFill>
                <a:latin typeface="Calibri" pitchFamily="34" charset="0"/>
                <a:ea typeface="Calibri" pitchFamily="34" charset="-122"/>
                <a:cs typeface="Calibri" pitchFamily="34" charset="-120"/>
              </a:rPr>
              <a:t>Teklif kimliği, segment, karar, gerekçe kodları, marj ve eşik oranı, tutar bandı, stok durumu.</a:t>
            </a:r>
            <a:endParaRPr lang="en-US" sz="1350" dirty="0"/>
          </a:p>
        </p:txBody>
      </p:sp>
      <p:sp>
        <p:nvSpPr>
          <p:cNvPr id="9" name="Text 6"/>
          <p:cNvSpPr txBox="1"/>
          <p:nvPr/>
        </p:nvSpPr>
        <p:spPr>
          <a:xfrm>
            <a:off x="822960" y="3840480"/>
            <a:ext cx="2966618" cy="256032"/>
          </a:xfrm>
          <a:prstGeom prst="rect">
            <a:avLst/>
          </a:prstGeom>
          <a:noFill/>
          <a:ln/>
        </p:spPr>
        <p:txBody>
          <a:bodyPr wrap="square" lIns="0" tIns="0" rIns="0" bIns="0" rtlCol="0" anchor="ctr"/>
          <a:lstStyle/>
          <a:p>
            <a:pPr indent="0" marL="0">
              <a:buNone/>
            </a:pPr>
            <a:r>
              <a:rPr lang="en-US" sz="1000" b="1" spc="150" kern="0" dirty="0">
                <a:solidFill>
                  <a:srgbClr val="A23A2A"/>
                </a:solidFill>
                <a:latin typeface="Calibri" pitchFamily="34" charset="0"/>
                <a:ea typeface="Calibri" pitchFamily="34" charset="-122"/>
                <a:cs typeface="Calibri" pitchFamily="34" charset="-120"/>
              </a:rPr>
              <a:t>GİTMEYEN</a:t>
            </a:r>
            <a:endParaRPr lang="en-US" sz="1000" dirty="0"/>
          </a:p>
        </p:txBody>
      </p:sp>
      <p:sp>
        <p:nvSpPr>
          <p:cNvPr id="10" name="Text 7"/>
          <p:cNvSpPr txBox="1"/>
          <p:nvPr/>
        </p:nvSpPr>
        <p:spPr>
          <a:xfrm>
            <a:off x="822960" y="4114800"/>
            <a:ext cx="2966618" cy="1371600"/>
          </a:xfrm>
          <a:prstGeom prst="rect">
            <a:avLst/>
          </a:prstGeom>
          <a:noFill/>
          <a:ln/>
        </p:spPr>
        <p:txBody>
          <a:bodyPr wrap="square" lIns="0" tIns="0" rIns="0" bIns="0" rtlCol="0" anchor="t"/>
          <a:lstStyle/>
          <a:p>
            <a:pPr indent="0" marL="0">
              <a:buNone/>
            </a:pPr>
            <a:r>
              <a:rPr lang="en-US" sz="1350" dirty="0">
                <a:solidFill>
                  <a:srgbClr val="3F5162"/>
                </a:solidFill>
                <a:latin typeface="Calibri" pitchFamily="34" charset="0"/>
                <a:ea typeface="Calibri" pitchFamily="34" charset="-122"/>
                <a:cs typeface="Calibri" pitchFamily="34" charset="-120"/>
              </a:rPr>
              <a:t>Müşteri adı, e-posta, telefon: fonksiyon imzasında yok, yapısal olarak geçilemez. Maliyet ve nakliye: marj hesaplı olduğundan gereksiz veri.</a:t>
            </a:r>
            <a:endParaRPr lang="en-US" sz="1350" dirty="0"/>
          </a:p>
        </p:txBody>
      </p:sp>
      <p:sp>
        <p:nvSpPr>
          <p:cNvPr id="11" name="Shape 8"/>
          <p:cNvSpPr/>
          <p:nvPr/>
        </p:nvSpPr>
        <p:spPr>
          <a:xfrm>
            <a:off x="4338218" y="1463040"/>
            <a:ext cx="3515258" cy="4114800"/>
          </a:xfrm>
          <a:prstGeom prst="roundRect">
            <a:avLst>
              <a:gd name="adj" fmla="val 2081"/>
            </a:avLst>
          </a:prstGeom>
          <a:solidFill>
            <a:srgbClr val="FFFFFF"/>
          </a:solidFill>
          <a:ln w="9525">
            <a:solidFill>
              <a:srgbClr val="DCE3E9"/>
            </a:solidFill>
            <a:prstDash val="solid"/>
          </a:ln>
        </p:spPr>
      </p:sp>
      <p:sp>
        <p:nvSpPr>
          <p:cNvPr id="12" name="Shape 9"/>
          <p:cNvSpPr/>
          <p:nvPr/>
        </p:nvSpPr>
        <p:spPr>
          <a:xfrm>
            <a:off x="4612538" y="1737360"/>
            <a:ext cx="502920" cy="502920"/>
          </a:xfrm>
          <a:prstGeom prst="ellipse">
            <a:avLst/>
          </a:prstGeom>
          <a:solidFill>
            <a:srgbClr val="15618F"/>
          </a:solidFill>
          <a:ln w="12700">
            <a:solidFill>
              <a:srgbClr val="15618F"/>
            </a:solidFill>
            <a:prstDash val="solid"/>
          </a:ln>
        </p:spPr>
      </p:sp>
      <p:pic>
        <p:nvPicPr>
          <p:cNvPr id="13" name="Image 1" descr="preencoded.png">    </p:cNvPr>
          <p:cNvPicPr>
            <a:picLocks noChangeAspect="1"/>
          </p:cNvPicPr>
          <p:nvPr/>
        </p:nvPicPr>
        <p:blipFill>
          <a:blip r:embed="rId2"/>
          <a:stretch>
            <a:fillRect/>
          </a:stretch>
        </p:blipFill>
        <p:spPr>
          <a:xfrm>
            <a:off x="4738268" y="1863090"/>
            <a:ext cx="251460" cy="251460"/>
          </a:xfrm>
          <a:prstGeom prst="rect">
            <a:avLst/>
          </a:prstGeom>
        </p:spPr>
      </p:pic>
      <p:sp>
        <p:nvSpPr>
          <p:cNvPr id="14" name="Text 10"/>
          <p:cNvSpPr txBox="1"/>
          <p:nvPr/>
        </p:nvSpPr>
        <p:spPr>
          <a:xfrm>
            <a:off x="5252618" y="1764792"/>
            <a:ext cx="2417978" cy="457200"/>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Çıktı guardrail'leri</a:t>
            </a:r>
            <a:endParaRPr lang="en-US" sz="1600" dirty="0"/>
          </a:p>
        </p:txBody>
      </p:sp>
      <p:sp>
        <p:nvSpPr>
          <p:cNvPr id="15" name="Text 11"/>
          <p:cNvSpPr txBox="1"/>
          <p:nvPr/>
        </p:nvSpPr>
        <p:spPr>
          <a:xfrm>
            <a:off x="4612538" y="2514600"/>
            <a:ext cx="3058058" cy="26517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3F5162"/>
                </a:solidFill>
                <a:latin typeface="Calibri" pitchFamily="34" charset="0"/>
                <a:ea typeface="Calibri" pitchFamily="34" charset="-122"/>
                <a:cs typeface="Calibri" pitchFamily="34" charset="-120"/>
              </a:rPr>
              <a:t>Şema ve uzunluk sınırı</a:t>
            </a:r>
            <a:endParaRPr lang="en-US" sz="1350" dirty="0"/>
          </a:p>
          <a:p>
            <a:pPr marL="342900" indent="-342900">
              <a:spcAft>
                <a:spcPts val="800"/>
              </a:spcAft>
              <a:buSzPct val="100000"/>
              <a:buChar char="•"/>
            </a:pPr>
            <a:r>
              <a:rPr lang="en-US" sz="1350" dirty="0">
                <a:solidFill>
                  <a:srgbClr val="3F5162"/>
                </a:solidFill>
                <a:latin typeface="Calibri" pitchFamily="34" charset="0"/>
                <a:ea typeface="Calibri" pitchFamily="34" charset="-122"/>
                <a:cs typeface="Calibri" pitchFamily="34" charset="-120"/>
              </a:rPr>
              <a:t>Karar tutarlılığı: çelişen ifade yasak</a:t>
            </a:r>
            <a:endParaRPr lang="en-US" sz="1350" dirty="0"/>
          </a:p>
          <a:p>
            <a:pPr marL="342900" indent="-342900">
              <a:spcAft>
                <a:spcPts val="800"/>
              </a:spcAft>
              <a:buSzPct val="100000"/>
              <a:buChar char="•"/>
            </a:pPr>
            <a:r>
              <a:rPr lang="en-US" sz="1350" dirty="0">
                <a:solidFill>
                  <a:srgbClr val="3F5162"/>
                </a:solidFill>
                <a:latin typeface="Calibri" pitchFamily="34" charset="0"/>
                <a:ea typeface="Calibri" pitchFamily="34" charset="-122"/>
                <a:cs typeface="Calibri" pitchFamily="34" charset="-120"/>
              </a:rPr>
              <a:t>Kişisel veri kalıbı taraması</a:t>
            </a:r>
            <a:endParaRPr lang="en-US" sz="1350" dirty="0"/>
          </a:p>
          <a:p>
            <a:pPr marL="342900" indent="-342900">
              <a:spcAft>
                <a:spcPts val="800"/>
              </a:spcAft>
              <a:buSzPct val="100000"/>
              <a:buChar char="•"/>
            </a:pPr>
            <a:r>
              <a:rPr lang="en-US" sz="1350" dirty="0">
                <a:solidFill>
                  <a:srgbClr val="3F5162"/>
                </a:solidFill>
                <a:latin typeface="Calibri" pitchFamily="34" charset="0"/>
                <a:ea typeface="Calibri" pitchFamily="34" charset="-122"/>
                <a:cs typeface="Calibri" pitchFamily="34" charset="-120"/>
              </a:rPr>
              <a:t>Onay taslağı yalnızca onay gereken durumda</a:t>
            </a:r>
            <a:endParaRPr lang="en-US" sz="1350" dirty="0"/>
          </a:p>
          <a:p>
            <a:pPr marL="342900" indent="-342900">
              <a:spcAft>
                <a:spcPts val="800"/>
              </a:spcAft>
              <a:buSzPct val="100000"/>
              <a:buChar char="•"/>
            </a:pPr>
            <a:r>
              <a:rPr lang="en-US" sz="1350" dirty="0">
                <a:solidFill>
                  <a:srgbClr val="3F5162"/>
                </a:solidFill>
                <a:latin typeface="Calibri" pitchFamily="34" charset="0"/>
                <a:ea typeface="Calibri" pitchFamily="34" charset="-122"/>
                <a:cs typeface="Calibri" pitchFamily="34" charset="-120"/>
              </a:rPr>
              <a:t>Sayısal doğrulama: yüzdeler karar motorunun değerleriyle eşleşmeli</a:t>
            </a:r>
            <a:endParaRPr lang="en-US" sz="1350" dirty="0"/>
          </a:p>
        </p:txBody>
      </p:sp>
      <p:sp>
        <p:nvSpPr>
          <p:cNvPr id="16" name="Text 12"/>
          <p:cNvSpPr txBox="1"/>
          <p:nvPr/>
        </p:nvSpPr>
        <p:spPr>
          <a:xfrm>
            <a:off x="4612538" y="4937760"/>
            <a:ext cx="2966618" cy="502920"/>
          </a:xfrm>
          <a:prstGeom prst="rect">
            <a:avLst/>
          </a:prstGeom>
          <a:noFill/>
          <a:ln/>
        </p:spPr>
        <p:txBody>
          <a:bodyPr wrap="square" lIns="0" tIns="0" rIns="0" bIns="0" rtlCol="0" anchor="t"/>
          <a:lstStyle/>
          <a:p>
            <a:pPr indent="0" marL="0">
              <a:buNone/>
            </a:pPr>
            <a:r>
              <a:rPr lang="en-US" sz="1250" i="1" dirty="0">
                <a:solidFill>
                  <a:srgbClr val="5B6B7A"/>
                </a:solidFill>
                <a:latin typeface="Calibri" pitchFamily="34" charset="0"/>
                <a:ea typeface="Calibri" pitchFamily="34" charset="-122"/>
                <a:cs typeface="Calibri" pitchFamily="34" charset="-120"/>
              </a:rPr>
              <a:t>İhlal veya hata → deterministik özet, karar aynı kalır.</a:t>
            </a:r>
            <a:endParaRPr lang="en-US" sz="1250" dirty="0"/>
          </a:p>
        </p:txBody>
      </p:sp>
      <p:sp>
        <p:nvSpPr>
          <p:cNvPr id="17" name="Shape 13"/>
          <p:cNvSpPr/>
          <p:nvPr/>
        </p:nvSpPr>
        <p:spPr>
          <a:xfrm>
            <a:off x="8127797" y="1463040"/>
            <a:ext cx="3515258" cy="4114800"/>
          </a:xfrm>
          <a:prstGeom prst="roundRect">
            <a:avLst>
              <a:gd name="adj" fmla="val 2081"/>
            </a:avLst>
          </a:prstGeom>
          <a:solidFill>
            <a:srgbClr val="16222E"/>
          </a:solidFill>
          <a:ln w="12700">
            <a:solidFill>
              <a:srgbClr val="16222E"/>
            </a:solidFill>
            <a:prstDash val="solid"/>
          </a:ln>
        </p:spPr>
      </p:sp>
      <p:sp>
        <p:nvSpPr>
          <p:cNvPr id="18" name="Shape 14"/>
          <p:cNvSpPr/>
          <p:nvPr/>
        </p:nvSpPr>
        <p:spPr>
          <a:xfrm>
            <a:off x="8402117" y="1737360"/>
            <a:ext cx="502920" cy="502920"/>
          </a:xfrm>
          <a:prstGeom prst="ellipse">
            <a:avLst/>
          </a:prstGeom>
          <a:solidFill>
            <a:srgbClr val="15618F"/>
          </a:solidFill>
          <a:ln w="12700">
            <a:solidFill>
              <a:srgbClr val="15618F"/>
            </a:solidFill>
            <a:prstDash val="solid"/>
          </a:ln>
        </p:spPr>
      </p:sp>
      <p:pic>
        <p:nvPicPr>
          <p:cNvPr id="19" name="Image 2" descr="preencoded.png">    </p:cNvPr>
          <p:cNvPicPr>
            <a:picLocks noChangeAspect="1"/>
          </p:cNvPicPr>
          <p:nvPr/>
        </p:nvPicPr>
        <p:blipFill>
          <a:blip r:embed="rId3"/>
          <a:stretch>
            <a:fillRect/>
          </a:stretch>
        </p:blipFill>
        <p:spPr>
          <a:xfrm>
            <a:off x="8527847" y="1863090"/>
            <a:ext cx="251460" cy="251460"/>
          </a:xfrm>
          <a:prstGeom prst="rect">
            <a:avLst/>
          </a:prstGeom>
        </p:spPr>
      </p:pic>
      <p:sp>
        <p:nvSpPr>
          <p:cNvPr id="20" name="Text 15"/>
          <p:cNvSpPr txBox="1"/>
          <p:nvPr/>
        </p:nvSpPr>
        <p:spPr>
          <a:xfrm>
            <a:off x="9042197" y="1764792"/>
            <a:ext cx="2417978"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Log ve denetim izi</a:t>
            </a:r>
            <a:endParaRPr lang="en-US" sz="1600" dirty="0"/>
          </a:p>
        </p:txBody>
      </p:sp>
      <p:sp>
        <p:nvSpPr>
          <p:cNvPr id="21" name="Text 16"/>
          <p:cNvSpPr txBox="1"/>
          <p:nvPr/>
        </p:nvSpPr>
        <p:spPr>
          <a:xfrm>
            <a:off x="8402117" y="2514600"/>
            <a:ext cx="2966618" cy="3200400"/>
          </a:xfrm>
          <a:prstGeom prst="rect">
            <a:avLst/>
          </a:prstGeom>
          <a:noFill/>
          <a:ln/>
        </p:spPr>
        <p:txBody>
          <a:bodyPr wrap="square" lIns="0" tIns="0" rIns="0" bIns="0" rtlCol="0" anchor="t"/>
          <a:lstStyle/>
          <a:p>
            <a:pPr indent="0" marL="0">
              <a:spcAft>
                <a:spcPts val="1400"/>
              </a:spcAft>
              <a:buNone/>
            </a:pPr>
            <a:r>
              <a:rPr lang="en-US" sz="1350" dirty="0">
                <a:solidFill>
                  <a:srgbClr val="C3CED8"/>
                </a:solidFill>
                <a:latin typeface="Calibri" pitchFamily="34" charset="0"/>
                <a:ea typeface="Calibri" pitchFamily="34" charset="-122"/>
                <a:cs typeface="Calibri" pitchFamily="34" charset="-120"/>
              </a:rPr>
              <a:t>Log kayıtları ikinci savunma hattı olarak maskeleme filtresinden geçer.</a:t>
            </a:r>
            <a:endParaRPr lang="en-US" sz="1350" dirty="0"/>
          </a:p>
          <a:p>
            <a:pPr indent="0" marL="0">
              <a:spcAft>
                <a:spcPts val="1400"/>
              </a:spcAft>
              <a:buNone/>
            </a:pPr>
            <a:r>
              <a:rPr lang="en-US" sz="1350" dirty="0">
                <a:solidFill>
                  <a:srgbClr val="C3CED8"/>
                </a:solidFill>
                <a:latin typeface="Calibri" pitchFamily="34" charset="0"/>
                <a:ea typeface="Calibri" pitchFamily="34" charset="-122"/>
                <a:cs typeface="Calibri" pitchFamily="34" charset="-120"/>
              </a:rPr>
              <a:t>Audit'te müşteri, HMAC ile üretilmiş takma kimlikle görünür: analiz mümkün, düz metne dönüş yok.</a:t>
            </a:r>
            <a:endParaRPr lang="en-US" sz="1350" dirty="0"/>
          </a:p>
          <a:p>
            <a:pPr indent="0" marL="0">
              <a:spcAft>
                <a:spcPts val="1400"/>
              </a:spcAft>
              <a:buNone/>
            </a:pPr>
            <a:r>
              <a:rPr lang="en-US" sz="1350" dirty="0">
                <a:solidFill>
                  <a:srgbClr val="C3CED8"/>
                </a:solidFill>
                <a:latin typeface="Calibri" pitchFamily="34" charset="0"/>
                <a:ea typeface="Calibri" pitchFamily="34" charset="-122"/>
                <a:cs typeface="Calibri" pitchFamily="34" charset="-120"/>
              </a:rPr>
              <a:t>Her kararla kural sürümü yazılır; geçmiş karar kendi kurallarıyla açıklanır.</a:t>
            </a:r>
            <a:endParaRPr lang="en-US" sz="1350" dirty="0"/>
          </a:p>
        </p:txBody>
      </p:sp>
      <p:sp>
        <p:nvSpPr>
          <p:cNvPr id="22" name="Text 17"/>
          <p:cNvSpPr txBox="1"/>
          <p:nvPr/>
        </p:nvSpPr>
        <p:spPr>
          <a:xfrm>
            <a:off x="548640" y="6355080"/>
            <a:ext cx="11094415" cy="274320"/>
          </a:xfrm>
          <a:prstGeom prst="rect">
            <a:avLst/>
          </a:prstGeom>
          <a:noFill/>
          <a:ln/>
        </p:spPr>
        <p:txBody>
          <a:bodyPr wrap="square" lIns="0" tIns="0" rIns="0" bIns="0" rtlCol="0" anchor="ctr"/>
          <a:lstStyle/>
          <a:p>
            <a:pPr algn="r" indent="0" marL="0">
              <a:buNone/>
            </a:pPr>
            <a:r>
              <a:rPr lang="en-US" sz="1000" dirty="0">
                <a:solidFill>
                  <a:srgbClr val="8B9AA8"/>
                </a:solidFill>
                <a:latin typeface="Calibri" pitchFamily="34" charset="0"/>
                <a:ea typeface="Calibri" pitchFamily="34" charset="-122"/>
                <a:cs typeface="Calibri" pitchFamily="34" charset="-120"/>
              </a:rPr>
              <a:t>Teklif Ön Değerlendirme API</a:t>
            </a:r>
            <a:pPr algn="r" indent="0" marL="0">
              <a:buNone/>
            </a:pPr>
            <a:r>
              <a:rPr lang="en-US" sz="1000" b="1" dirty="0">
                <a:solidFill>
                  <a:srgbClr val="8B9AA8"/>
                </a:solidFill>
                <a:latin typeface="Calibri" pitchFamily="34" charset="0"/>
                <a:ea typeface="Calibri" pitchFamily="34" charset="-122"/>
                <a:cs typeface="Calibri" pitchFamily="34" charset="-120"/>
              </a:rPr>
              <a:t>   6 / 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77240"/>
          </a:xfrm>
          <a:prstGeom prst="rect">
            <a:avLst/>
          </a:prstGeom>
          <a:noFill/>
          <a:ln/>
        </p:spPr>
        <p:txBody>
          <a:bodyPr wrap="square" lIns="0" tIns="0" rIns="0" bIns="0" rtlCol="0" anchor="ctr"/>
          <a:lstStyle/>
          <a:p>
            <a:pPr indent="0" marL="0">
              <a:buNone/>
            </a:pPr>
            <a:r>
              <a:rPr lang="en-US" sz="3400" b="1" dirty="0">
                <a:solidFill>
                  <a:srgbClr val="16222E"/>
                </a:solidFill>
                <a:latin typeface="Calibri" pitchFamily="34" charset="0"/>
                <a:ea typeface="Calibri" pitchFamily="34" charset="-122"/>
                <a:cs typeface="Calibri" pitchFamily="34" charset="-120"/>
              </a:rPr>
              <a:t>Varsayımlar, kısıtlar ve yol haritası</a:t>
            </a:r>
            <a:endParaRPr lang="en-US" sz="3400" dirty="0"/>
          </a:p>
        </p:txBody>
      </p:sp>
      <p:sp>
        <p:nvSpPr>
          <p:cNvPr id="3" name="Shape 1"/>
          <p:cNvSpPr/>
          <p:nvPr/>
        </p:nvSpPr>
        <p:spPr>
          <a:xfrm>
            <a:off x="548640" y="1463040"/>
            <a:ext cx="5410048" cy="3246120"/>
          </a:xfrm>
          <a:prstGeom prst="roundRect">
            <a:avLst>
              <a:gd name="adj" fmla="val 2254"/>
            </a:avLst>
          </a:prstGeom>
          <a:solidFill>
            <a:srgbClr val="F4F6F8"/>
          </a:solidFill>
          <a:ln w="9525">
            <a:solidFill>
              <a:srgbClr val="DCE3E9"/>
            </a:solidFill>
            <a:prstDash val="solid"/>
          </a:ln>
        </p:spPr>
      </p:sp>
      <p:sp>
        <p:nvSpPr>
          <p:cNvPr id="4" name="Shape 2"/>
          <p:cNvSpPr/>
          <p:nvPr/>
        </p:nvSpPr>
        <p:spPr>
          <a:xfrm>
            <a:off x="822960" y="1737360"/>
            <a:ext cx="502920" cy="502920"/>
          </a:xfrm>
          <a:prstGeom prst="ellipse">
            <a:avLst/>
          </a:prstGeom>
          <a:solidFill>
            <a:srgbClr val="16222E"/>
          </a:solidFill>
          <a:ln w="12700">
            <a:solidFill>
              <a:srgbClr val="16222E"/>
            </a:solidFill>
            <a:prstDash val="solid"/>
          </a:ln>
        </p:spPr>
      </p:sp>
      <p:pic>
        <p:nvPicPr>
          <p:cNvPr id="5" name="Image 0" descr="preencoded.png">    </p:cNvPr>
          <p:cNvPicPr>
            <a:picLocks noChangeAspect="1"/>
          </p:cNvPicPr>
          <p:nvPr/>
        </p:nvPicPr>
        <p:blipFill>
          <a:blip r:embed="rId1"/>
          <a:stretch>
            <a:fillRect/>
          </a:stretch>
        </p:blipFill>
        <p:spPr>
          <a:xfrm>
            <a:off x="948690" y="1863090"/>
            <a:ext cx="251460" cy="251460"/>
          </a:xfrm>
          <a:prstGeom prst="rect">
            <a:avLst/>
          </a:prstGeom>
        </p:spPr>
      </p:pic>
      <p:sp>
        <p:nvSpPr>
          <p:cNvPr id="6" name="Text 3"/>
          <p:cNvSpPr txBox="1"/>
          <p:nvPr/>
        </p:nvSpPr>
        <p:spPr>
          <a:xfrm>
            <a:off x="1463040" y="1764792"/>
            <a:ext cx="4312768" cy="457200"/>
          </a:xfrm>
          <a:prstGeom prst="rect">
            <a:avLst/>
          </a:prstGeom>
          <a:noFill/>
          <a:ln/>
        </p:spPr>
        <p:txBody>
          <a:bodyPr wrap="square" lIns="0" tIns="0" rIns="0" bIns="0" rtlCol="0" anchor="ctr"/>
          <a:lstStyle/>
          <a:p>
            <a:pPr indent="0" marL="0">
              <a:buNone/>
            </a:pPr>
            <a:r>
              <a:rPr lang="en-US" sz="1700" b="1" dirty="0">
                <a:solidFill>
                  <a:srgbClr val="16222E"/>
                </a:solidFill>
                <a:latin typeface="Calibri" pitchFamily="34" charset="0"/>
                <a:ea typeface="Calibri" pitchFamily="34" charset="-122"/>
                <a:cs typeface="Calibri" pitchFamily="34" charset="-120"/>
              </a:rPr>
              <a:t>Bilinçli olarak kapsam dışı</a:t>
            </a:r>
            <a:endParaRPr lang="en-US" sz="1700" dirty="0"/>
          </a:p>
        </p:txBody>
      </p:sp>
      <p:sp>
        <p:nvSpPr>
          <p:cNvPr id="7" name="Text 4"/>
          <p:cNvSpPr txBox="1"/>
          <p:nvPr/>
        </p:nvSpPr>
        <p:spPr>
          <a:xfrm>
            <a:off x="822960" y="2468880"/>
            <a:ext cx="4861408" cy="2103120"/>
          </a:xfrm>
          <a:prstGeom prst="rect">
            <a:avLst/>
          </a:prstGeom>
          <a:noFill/>
          <a:ln/>
        </p:spPr>
        <p:txBody>
          <a:bodyPr wrap="square" lIns="0" tIns="0" rIns="0" bIns="0" rtlCol="0" anchor="t"/>
          <a:lstStyle/>
          <a:p>
            <a:pPr marL="342900" indent="-342900">
              <a:spcAft>
                <a:spcPts val="1100"/>
              </a:spcAft>
              <a:buSzPct val="100000"/>
              <a:buChar char="•"/>
            </a:pPr>
            <a:r>
              <a:rPr lang="en-US" sz="1500" dirty="0">
                <a:solidFill>
                  <a:srgbClr val="3F5162"/>
                </a:solidFill>
                <a:latin typeface="Calibri" pitchFamily="34" charset="0"/>
                <a:ea typeface="Calibri" pitchFamily="34" charset="-122"/>
                <a:cs typeface="Calibri" pitchFamily="34" charset="-120"/>
              </a:rPr>
              <a:t>Kimlik doğrulama ve rol bazlı erişim: gateway katmanının işi</a:t>
            </a:r>
            <a:endParaRPr lang="en-US" sz="1500" dirty="0"/>
          </a:p>
          <a:p>
            <a:pPr marL="342900" indent="-342900">
              <a:spcAft>
                <a:spcPts val="1100"/>
              </a:spcAft>
              <a:buSzPct val="100000"/>
              <a:buChar char="•"/>
            </a:pPr>
            <a:r>
              <a:rPr lang="en-US" sz="1500" dirty="0">
                <a:solidFill>
                  <a:srgbClr val="3F5162"/>
                </a:solidFill>
                <a:latin typeface="Calibri" pitchFamily="34" charset="0"/>
                <a:ea typeface="Calibri" pitchFamily="34" charset="-122"/>
                <a:cs typeface="Calibri" pitchFamily="34" charset="-120"/>
              </a:rPr>
              <a:t>Gerçek CRM/ERP bağlantısı: mock veri Protocol arkasında</a:t>
            </a:r>
            <a:endParaRPr lang="en-US" sz="1500" dirty="0"/>
          </a:p>
          <a:p>
            <a:pPr marL="342900" indent="-342900">
              <a:spcAft>
                <a:spcPts val="1100"/>
              </a:spcAft>
              <a:buSzPct val="100000"/>
              <a:buChar char="•"/>
            </a:pPr>
            <a:r>
              <a:rPr lang="en-US" sz="1500" dirty="0">
                <a:solidFill>
                  <a:srgbClr val="3F5162"/>
                </a:solidFill>
                <a:latin typeface="Calibri" pitchFamily="34" charset="0"/>
                <a:ea typeface="Calibri" pitchFamily="34" charset="-122"/>
                <a:cs typeface="Calibri" pitchFamily="34" charset="-120"/>
              </a:rPr>
              <a:t>Kamu ihale mevzuatı: ayrı bir kural seti gerektirir</a:t>
            </a:r>
            <a:endParaRPr lang="en-US" sz="1500" dirty="0"/>
          </a:p>
          <a:p>
            <a:pPr marL="342900" indent="-342900">
              <a:spcAft>
                <a:spcPts val="1100"/>
              </a:spcAft>
              <a:buSzPct val="100000"/>
              <a:buChar char="•"/>
            </a:pPr>
            <a:r>
              <a:rPr lang="en-US" sz="1500" dirty="0">
                <a:solidFill>
                  <a:srgbClr val="3F5162"/>
                </a:solidFill>
                <a:latin typeface="Calibri" pitchFamily="34" charset="0"/>
                <a:ea typeface="Calibri" pitchFamily="34" charset="-122"/>
                <a:cs typeface="Calibri" pitchFamily="34" charset="-120"/>
              </a:rPr>
              <a:t>Onay kanalı: taslak üretilir, mesaj gönderilmez</a:t>
            </a:r>
            <a:endParaRPr lang="en-US" sz="1500" dirty="0"/>
          </a:p>
          <a:p>
            <a:pPr marL="342900" indent="-342900">
              <a:spcAft>
                <a:spcPts val="1100"/>
              </a:spcAft>
              <a:buSzPct val="100000"/>
              <a:buChar char="•"/>
            </a:pPr>
            <a:r>
              <a:rPr lang="en-US" sz="1500" dirty="0">
                <a:solidFill>
                  <a:srgbClr val="3F5162"/>
                </a:solidFill>
                <a:latin typeface="Calibri" pitchFamily="34" charset="0"/>
                <a:ea typeface="Calibri" pitchFamily="34" charset="-122"/>
                <a:cs typeface="Calibri" pitchFamily="34" charset="-120"/>
              </a:rPr>
              <a:t>Tek para birimi, tek ürünlü teklif</a:t>
            </a:r>
            <a:endParaRPr lang="en-US" sz="1500" dirty="0"/>
          </a:p>
        </p:txBody>
      </p:sp>
      <p:sp>
        <p:nvSpPr>
          <p:cNvPr id="8" name="Shape 5"/>
          <p:cNvSpPr/>
          <p:nvPr/>
        </p:nvSpPr>
        <p:spPr>
          <a:xfrm>
            <a:off x="6233008" y="1463040"/>
            <a:ext cx="5410048" cy="3246120"/>
          </a:xfrm>
          <a:prstGeom prst="roundRect">
            <a:avLst>
              <a:gd name="adj" fmla="val 2254"/>
            </a:avLst>
          </a:prstGeom>
          <a:solidFill>
            <a:srgbClr val="EEF3F7"/>
          </a:solidFill>
          <a:ln w="9525">
            <a:solidFill>
              <a:srgbClr val="EEF3F7"/>
            </a:solidFill>
            <a:prstDash val="solid"/>
          </a:ln>
        </p:spPr>
      </p:sp>
      <p:sp>
        <p:nvSpPr>
          <p:cNvPr id="9" name="Shape 6"/>
          <p:cNvSpPr/>
          <p:nvPr/>
        </p:nvSpPr>
        <p:spPr>
          <a:xfrm>
            <a:off x="6507328" y="1737360"/>
            <a:ext cx="502920" cy="502920"/>
          </a:xfrm>
          <a:prstGeom prst="ellipse">
            <a:avLst/>
          </a:prstGeom>
          <a:solidFill>
            <a:srgbClr val="15618F"/>
          </a:solidFill>
          <a:ln w="12700">
            <a:solidFill>
              <a:srgbClr val="15618F"/>
            </a:solidFill>
            <a:prstDash val="solid"/>
          </a:ln>
        </p:spPr>
      </p:sp>
      <p:pic>
        <p:nvPicPr>
          <p:cNvPr id="10" name="Image 1" descr="preencoded.png">    </p:cNvPr>
          <p:cNvPicPr>
            <a:picLocks noChangeAspect="1"/>
          </p:cNvPicPr>
          <p:nvPr/>
        </p:nvPicPr>
        <p:blipFill>
          <a:blip r:embed="rId2"/>
          <a:stretch>
            <a:fillRect/>
          </a:stretch>
        </p:blipFill>
        <p:spPr>
          <a:xfrm>
            <a:off x="6633058" y="1863090"/>
            <a:ext cx="251460" cy="251460"/>
          </a:xfrm>
          <a:prstGeom prst="rect">
            <a:avLst/>
          </a:prstGeom>
        </p:spPr>
      </p:pic>
      <p:sp>
        <p:nvSpPr>
          <p:cNvPr id="11" name="Text 7"/>
          <p:cNvSpPr txBox="1"/>
          <p:nvPr/>
        </p:nvSpPr>
        <p:spPr>
          <a:xfrm>
            <a:off x="7147408" y="1764792"/>
            <a:ext cx="4312768" cy="457200"/>
          </a:xfrm>
          <a:prstGeom prst="rect">
            <a:avLst/>
          </a:prstGeom>
          <a:noFill/>
          <a:ln/>
        </p:spPr>
        <p:txBody>
          <a:bodyPr wrap="square" lIns="0" tIns="0" rIns="0" bIns="0" rtlCol="0" anchor="ctr"/>
          <a:lstStyle/>
          <a:p>
            <a:pPr indent="0" marL="0">
              <a:buNone/>
            </a:pPr>
            <a:r>
              <a:rPr lang="en-US" sz="1700" b="1" dirty="0">
                <a:solidFill>
                  <a:srgbClr val="16222E"/>
                </a:solidFill>
                <a:latin typeface="Calibri" pitchFamily="34" charset="0"/>
                <a:ea typeface="Calibri" pitchFamily="34" charset="-122"/>
                <a:cs typeface="Calibri" pitchFamily="34" charset="-120"/>
              </a:rPr>
              <a:t>Üretime giderken ilk beş adım</a:t>
            </a:r>
            <a:endParaRPr lang="en-US" sz="1700" dirty="0"/>
          </a:p>
        </p:txBody>
      </p:sp>
      <p:sp>
        <p:nvSpPr>
          <p:cNvPr id="12" name="Text 8"/>
          <p:cNvSpPr txBox="1"/>
          <p:nvPr/>
        </p:nvSpPr>
        <p:spPr>
          <a:xfrm>
            <a:off x="6507328" y="2468880"/>
            <a:ext cx="4861408" cy="2103120"/>
          </a:xfrm>
          <a:prstGeom prst="rect">
            <a:avLst/>
          </a:prstGeom>
          <a:noFill/>
          <a:ln/>
        </p:spPr>
        <p:txBody>
          <a:bodyPr wrap="square" lIns="0" tIns="0" rIns="0" bIns="0" rtlCol="0" anchor="t"/>
          <a:lstStyle/>
          <a:p>
            <a:pPr marL="342900" indent="-342900">
              <a:spcAft>
                <a:spcPts val="1100"/>
              </a:spcAft>
              <a:buSzPct val="100000"/>
              <a:buFont typeface="+mj-lt"/>
              <a:buAutoNum type="arabicPeriod" startAt="1"/>
            </a:pPr>
            <a:r>
              <a:rPr lang="en-US" sz="1500" dirty="0">
                <a:solidFill>
                  <a:srgbClr val="3F5162"/>
                </a:solidFill>
                <a:latin typeface="Calibri" pitchFamily="34" charset="0"/>
                <a:ea typeface="Calibri" pitchFamily="34" charset="-122"/>
                <a:cs typeface="Calibri" pitchFamily="34" charset="-120"/>
              </a:rPr>
              <a:t>Kimlik doğrulama ve roller; marj detayı yöneticiye açılır</a:t>
            </a:r>
            <a:endParaRPr lang="en-US" sz="1500" dirty="0"/>
          </a:p>
          <a:p>
            <a:pPr marL="342900" indent="-342900">
              <a:spcAft>
                <a:spcPts val="1100"/>
              </a:spcAft>
              <a:buSzPct val="100000"/>
              <a:buFont typeface="+mj-lt"/>
              <a:buAutoNum type="arabicPeriod" startAt="1"/>
            </a:pPr>
            <a:r>
              <a:rPr lang="en-US" sz="1500" dirty="0">
                <a:solidFill>
                  <a:srgbClr val="3F5162"/>
                </a:solidFill>
                <a:latin typeface="Calibri" pitchFamily="34" charset="0"/>
                <a:ea typeface="Calibri" pitchFamily="34" charset="-122"/>
                <a:cs typeface="Calibri" pitchFamily="34" charset="-120"/>
              </a:rPr>
              <a:t>Gerçek CRM/ERP istemcileri; yeniden deneme ve devre kesici</a:t>
            </a:r>
            <a:endParaRPr lang="en-US" sz="1500" dirty="0"/>
          </a:p>
          <a:p>
            <a:pPr marL="342900" indent="-342900">
              <a:spcAft>
                <a:spcPts val="1100"/>
              </a:spcAft>
              <a:buSzPct val="100000"/>
              <a:buFont typeface="+mj-lt"/>
              <a:buAutoNum type="arabicPeriod" startAt="1"/>
            </a:pPr>
            <a:r>
              <a:rPr lang="en-US" sz="1500" dirty="0">
                <a:solidFill>
                  <a:srgbClr val="3F5162"/>
                </a:solidFill>
                <a:latin typeface="Calibri" pitchFamily="34" charset="0"/>
                <a:ea typeface="Calibri" pitchFamily="34" charset="-122"/>
                <a:cs typeface="Calibri" pitchFamily="34" charset="-120"/>
              </a:rPr>
              <a:t>Audit'in kalıcı, değiştirilemez bir depoya taşınması</a:t>
            </a:r>
            <a:endParaRPr lang="en-US" sz="1500" dirty="0"/>
          </a:p>
          <a:p>
            <a:pPr marL="342900" indent="-342900">
              <a:spcAft>
                <a:spcPts val="1100"/>
              </a:spcAft>
              <a:buSzPct val="100000"/>
              <a:buFont typeface="+mj-lt"/>
              <a:buAutoNum type="arabicPeriod" startAt="1"/>
            </a:pPr>
            <a:r>
              <a:rPr lang="en-US" sz="1500" dirty="0">
                <a:solidFill>
                  <a:srgbClr val="3F5162"/>
                </a:solidFill>
                <a:latin typeface="Calibri" pitchFamily="34" charset="0"/>
                <a:ea typeface="Calibri" pitchFamily="34" charset="-122"/>
                <a:cs typeface="Calibri" pitchFamily="34" charset="-120"/>
              </a:rPr>
              <a:t>Onay kanalı entegrasyonu (Teams, Outlook)</a:t>
            </a:r>
            <a:endParaRPr lang="en-US" sz="1500" dirty="0"/>
          </a:p>
          <a:p>
            <a:pPr marL="342900" indent="-342900">
              <a:spcAft>
                <a:spcPts val="1100"/>
              </a:spcAft>
              <a:buSzPct val="100000"/>
              <a:buFont typeface="+mj-lt"/>
              <a:buAutoNum type="arabicPeriod" startAt="1"/>
            </a:pPr>
            <a:r>
              <a:rPr lang="en-US" sz="1500" dirty="0">
                <a:solidFill>
                  <a:srgbClr val="3F5162"/>
                </a:solidFill>
                <a:latin typeface="Calibri" pitchFamily="34" charset="0"/>
                <a:ea typeface="Calibri" pitchFamily="34" charset="-122"/>
                <a:cs typeface="Calibri" pitchFamily="34" charset="-120"/>
              </a:rPr>
              <a:t>İzleme: fallback oranı, guardrail ihlalleri, yanıt süresi</a:t>
            </a:r>
            <a:endParaRPr lang="en-US" sz="1500" dirty="0"/>
          </a:p>
        </p:txBody>
      </p:sp>
      <p:sp>
        <p:nvSpPr>
          <p:cNvPr id="13" name="Shape 9"/>
          <p:cNvSpPr/>
          <p:nvPr/>
        </p:nvSpPr>
        <p:spPr>
          <a:xfrm>
            <a:off x="548640" y="4983480"/>
            <a:ext cx="11094415" cy="1051560"/>
          </a:xfrm>
          <a:prstGeom prst="roundRect">
            <a:avLst>
              <a:gd name="adj" fmla="val 6957"/>
            </a:avLst>
          </a:prstGeom>
          <a:solidFill>
            <a:srgbClr val="16222E"/>
          </a:solidFill>
          <a:ln w="12700">
            <a:solidFill>
              <a:srgbClr val="16222E"/>
            </a:solidFill>
            <a:prstDash val="solid"/>
          </a:ln>
        </p:spPr>
      </p:sp>
      <p:sp>
        <p:nvSpPr>
          <p:cNvPr id="14" name="Text 10"/>
          <p:cNvSpPr txBox="1"/>
          <p:nvPr/>
        </p:nvSpPr>
        <p:spPr>
          <a:xfrm>
            <a:off x="914400" y="5120640"/>
            <a:ext cx="10362895"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Eşikler ve kural sürümü baştan değişebilir kurgulandı</a:t>
            </a:r>
            <a:endParaRPr lang="en-US" sz="1600" dirty="0"/>
          </a:p>
        </p:txBody>
      </p:sp>
      <p:sp>
        <p:nvSpPr>
          <p:cNvPr id="15" name="Text 11"/>
          <p:cNvSpPr txBox="1"/>
          <p:nvPr/>
        </p:nvSpPr>
        <p:spPr>
          <a:xfrm>
            <a:off x="914400" y="5486400"/>
            <a:ext cx="10362895" cy="457200"/>
          </a:xfrm>
          <a:prstGeom prst="rect">
            <a:avLst/>
          </a:prstGeom>
          <a:noFill/>
          <a:ln/>
        </p:spPr>
        <p:txBody>
          <a:bodyPr wrap="square" lIns="0" tIns="0" rIns="0" bIns="0" rtlCol="0" anchor="t"/>
          <a:lstStyle/>
          <a:p>
            <a:pPr indent="0" marL="0">
              <a:buNone/>
            </a:pPr>
            <a:r>
              <a:rPr lang="en-US" sz="1300" dirty="0">
                <a:solidFill>
                  <a:srgbClr val="C3CED8"/>
                </a:solidFill>
                <a:latin typeface="Calibri" pitchFamily="34" charset="0"/>
                <a:ea typeface="Calibri" pitchFamily="34" charset="-122"/>
                <a:cs typeface="Calibri" pitchFamily="34" charset="-120"/>
              </a:rPr>
              <a:t>Eşikler ortam değişkeninde tutulur, her kararın audit kaydına kural sürümü yazılır: bugünün kararı altı ay sonra da kendi kurallarıyla açıklanabilir.</a:t>
            </a:r>
            <a:endParaRPr lang="en-US" sz="1300" dirty="0"/>
          </a:p>
        </p:txBody>
      </p:sp>
      <p:sp>
        <p:nvSpPr>
          <p:cNvPr id="16" name="Text 12"/>
          <p:cNvSpPr txBox="1"/>
          <p:nvPr/>
        </p:nvSpPr>
        <p:spPr>
          <a:xfrm>
            <a:off x="548640" y="6355080"/>
            <a:ext cx="11094415" cy="274320"/>
          </a:xfrm>
          <a:prstGeom prst="rect">
            <a:avLst/>
          </a:prstGeom>
          <a:noFill/>
          <a:ln/>
        </p:spPr>
        <p:txBody>
          <a:bodyPr wrap="square" lIns="0" tIns="0" rIns="0" bIns="0" rtlCol="0" anchor="ctr"/>
          <a:lstStyle/>
          <a:p>
            <a:pPr algn="r" indent="0" marL="0">
              <a:buNone/>
            </a:pPr>
            <a:r>
              <a:rPr lang="en-US" sz="1000" dirty="0">
                <a:solidFill>
                  <a:srgbClr val="8B9AA8"/>
                </a:solidFill>
                <a:latin typeface="Calibri" pitchFamily="34" charset="0"/>
                <a:ea typeface="Calibri" pitchFamily="34" charset="-122"/>
                <a:cs typeface="Calibri" pitchFamily="34" charset="-120"/>
              </a:rPr>
              <a:t>Teklif Ön Değerlendirme API</a:t>
            </a:r>
            <a:pPr algn="r" indent="0" marL="0">
              <a:buNone/>
            </a:pPr>
            <a:r>
              <a:rPr lang="en-US" sz="1000" b="1" dirty="0">
                <a:solidFill>
                  <a:srgbClr val="8B9AA8"/>
                </a:solidFill>
                <a:latin typeface="Calibri" pitchFamily="34" charset="0"/>
                <a:ea typeface="Calibri" pitchFamily="34" charset="-122"/>
                <a:cs typeface="Calibri" pitchFamily="34" charset="-120"/>
              </a:rPr>
              <a:t>   7 / 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Bayi Teklif Onay Sürecinin Yapay Zekâ Destekli Otomasyonu</dc:title>
  <dc:subject>PptxGenJS Presentation</dc:subject>
  <dc:creator>Mert Genç</dc:creator>
  <cp:lastModifiedBy>Mert Genç</cp:lastModifiedBy>
  <cp:revision>1</cp:revision>
  <dcterms:created xsi:type="dcterms:W3CDTF">2026-09-21T20:06:01Z</dcterms:created>
  <dcterms:modified xsi:type="dcterms:W3CDTF">2026-09-21T20:06:01Z</dcterms:modified>
</cp:coreProperties>
</file>